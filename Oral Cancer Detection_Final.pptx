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10287000" cx="18288000"/>
  <p:notesSz cx="6858000" cy="9144000"/>
  <p:embeddedFontLst>
    <p:embeddedFont>
      <p:font typeface="Poppins"/>
      <p:regular r:id="rId31"/>
      <p:bold r:id="rId32"/>
      <p:italic r:id="rId33"/>
      <p:boldItalic r:id="rId34"/>
    </p:embeddedFont>
    <p:embeddedFont>
      <p:font typeface="Poppins Medium"/>
      <p:regular r:id="rId35"/>
      <p:bold r:id="rId36"/>
      <p:italic r:id="rId37"/>
      <p:boldItalic r:id="rId38"/>
    </p:embeddedFont>
    <p:embeddedFont>
      <p:font typeface="Open Sans ExtraBold"/>
      <p:bold r:id="rId39"/>
      <p:boldItalic r:id="rId40"/>
    </p:embeddedFont>
    <p:embeddedFont>
      <p:font typeface="Poppins SemiBold"/>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hGK/GS4pZj6Aft1NGKAaZyWHRA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ExtraBold-boldItalic.fntdata"/><Relationship Id="rId20" Type="http://schemas.openxmlformats.org/officeDocument/2006/relationships/slide" Target="slides/slide15.xml"/><Relationship Id="rId42" Type="http://schemas.openxmlformats.org/officeDocument/2006/relationships/font" Target="fonts/PoppinsSemiBold-bold.fntdata"/><Relationship Id="rId41" Type="http://schemas.openxmlformats.org/officeDocument/2006/relationships/font" Target="fonts/PoppinsSemiBold-regular.fntdata"/><Relationship Id="rId22" Type="http://schemas.openxmlformats.org/officeDocument/2006/relationships/slide" Target="slides/slide17.xml"/><Relationship Id="rId44" Type="http://schemas.openxmlformats.org/officeDocument/2006/relationships/font" Target="fonts/PoppinsSemiBold-boldItalic.fntdata"/><Relationship Id="rId21" Type="http://schemas.openxmlformats.org/officeDocument/2006/relationships/slide" Target="slides/slide16.xml"/><Relationship Id="rId43" Type="http://schemas.openxmlformats.org/officeDocument/2006/relationships/font" Target="fonts/PoppinsSemiBold-italic.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oppins-italic.fntdata"/><Relationship Id="rId10" Type="http://schemas.openxmlformats.org/officeDocument/2006/relationships/slide" Target="slides/slide5.xml"/><Relationship Id="rId32" Type="http://schemas.openxmlformats.org/officeDocument/2006/relationships/font" Target="fonts/Poppins-bold.fntdata"/><Relationship Id="rId13" Type="http://schemas.openxmlformats.org/officeDocument/2006/relationships/slide" Target="slides/slide8.xml"/><Relationship Id="rId35" Type="http://schemas.openxmlformats.org/officeDocument/2006/relationships/font" Target="fonts/PoppinsMedium-regular.fntdata"/><Relationship Id="rId12" Type="http://schemas.openxmlformats.org/officeDocument/2006/relationships/slide" Target="slides/slide7.xml"/><Relationship Id="rId34" Type="http://schemas.openxmlformats.org/officeDocument/2006/relationships/font" Target="fonts/Poppins-boldItalic.fntdata"/><Relationship Id="rId15" Type="http://schemas.openxmlformats.org/officeDocument/2006/relationships/slide" Target="slides/slide10.xml"/><Relationship Id="rId37" Type="http://schemas.openxmlformats.org/officeDocument/2006/relationships/font" Target="fonts/PoppinsMedium-italic.fntdata"/><Relationship Id="rId14" Type="http://schemas.openxmlformats.org/officeDocument/2006/relationships/slide" Target="slides/slide9.xml"/><Relationship Id="rId36" Type="http://schemas.openxmlformats.org/officeDocument/2006/relationships/font" Target="fonts/PoppinsMedium-bold.fntdata"/><Relationship Id="rId17" Type="http://schemas.openxmlformats.org/officeDocument/2006/relationships/slide" Target="slides/slide12.xml"/><Relationship Id="rId39" Type="http://schemas.openxmlformats.org/officeDocument/2006/relationships/font" Target="fonts/OpenSansExtraBold-bold.fntdata"/><Relationship Id="rId16" Type="http://schemas.openxmlformats.org/officeDocument/2006/relationships/slide" Target="slides/slide11.xml"/><Relationship Id="rId38" Type="http://schemas.openxmlformats.org/officeDocument/2006/relationships/font" Target="fonts/Poppins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6e9d5ea29e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6e9d5ea29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e9d5ea29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26e9d5ea29e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6e9d5ea29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26e9d5ea29e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cc9331e76c_6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2cc9331e76c_6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cc9331e76c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2cc9331e76c_6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cc9331e76c_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2cc9331e76c_6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cc9331e76c_6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2cc9331e76c_6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cc9331e76c_6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2cc9331e76c_6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cc9331e76c_6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2cc9331e76c_6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cc9331e76c_6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2cc9331e76c_6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6e9d5ea29e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6e9d5ea29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6e9d5ea29e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6e9d5ea29e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6e9d5ea29e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6e9d5ea29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6e9d5ea29e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6e9d5ea29e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1792288" y="612775"/>
            <a:ext cx="5486400" cy="4114800"/>
          </a:xfrm>
          <a:prstGeom prst="rect">
            <a:avLst/>
          </a:prstGeom>
          <a:noFill/>
          <a:ln>
            <a:noFill/>
          </a:ln>
        </p:spPr>
      </p:sp>
      <p:sp>
        <p:nvSpPr>
          <p:cNvPr id="64" name="Google Shape;64;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1.png"/><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jpg"/><Relationship Id="rId4" Type="http://schemas.openxmlformats.org/officeDocument/2006/relationships/image" Target="../media/image14.jpg"/><Relationship Id="rId5" Type="http://schemas.openxmlformats.org/officeDocument/2006/relationships/image" Target="../media/image1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jpg"/><Relationship Id="rId4" Type="http://schemas.openxmlformats.org/officeDocument/2006/relationships/image" Target="../media/image2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83" name="Shape 83"/>
        <p:cNvGrpSpPr/>
        <p:nvPr/>
      </p:nvGrpSpPr>
      <p:grpSpPr>
        <a:xfrm>
          <a:off x="0" y="0"/>
          <a:ext cx="0" cy="0"/>
          <a:chOff x="0" y="0"/>
          <a:chExt cx="0" cy="0"/>
        </a:xfrm>
      </p:grpSpPr>
      <p:grpSp>
        <p:nvGrpSpPr>
          <p:cNvPr id="84" name="Google Shape;84;p1"/>
          <p:cNvGrpSpPr/>
          <p:nvPr/>
        </p:nvGrpSpPr>
        <p:grpSpPr>
          <a:xfrm>
            <a:off x="6097502" y="5590237"/>
            <a:ext cx="14099416" cy="14099416"/>
            <a:chOff x="0" y="0"/>
            <a:chExt cx="812800" cy="812800"/>
          </a:xfrm>
        </p:grpSpPr>
        <p:sp>
          <p:nvSpPr>
            <p:cNvPr id="85" name="Google Shape;85;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 name="Google Shape;87;p1"/>
          <p:cNvSpPr txBox="1"/>
          <p:nvPr/>
        </p:nvSpPr>
        <p:spPr>
          <a:xfrm>
            <a:off x="2034856" y="2019597"/>
            <a:ext cx="8015400" cy="2818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9156">
                <a:solidFill>
                  <a:srgbClr val="051D40"/>
                </a:solidFill>
                <a:latin typeface="Open Sans ExtraBold"/>
                <a:ea typeface="Open Sans ExtraBold"/>
                <a:cs typeface="Open Sans ExtraBold"/>
                <a:sym typeface="Open Sans ExtraBold"/>
              </a:rPr>
              <a:t>Oral Cancer</a:t>
            </a:r>
            <a:endParaRPr b="1" sz="9156">
              <a:solidFill>
                <a:srgbClr val="051D40"/>
              </a:solidFill>
              <a:latin typeface="Open Sans ExtraBold"/>
              <a:ea typeface="Open Sans ExtraBold"/>
              <a:cs typeface="Open Sans ExtraBold"/>
              <a:sym typeface="Open Sans ExtraBold"/>
            </a:endParaRPr>
          </a:p>
          <a:p>
            <a:pPr indent="0" lvl="0" marL="0" marR="0" rtl="0" algn="l">
              <a:lnSpc>
                <a:spcPct val="100000"/>
              </a:lnSpc>
              <a:spcBef>
                <a:spcPts val="0"/>
              </a:spcBef>
              <a:spcAft>
                <a:spcPts val="0"/>
              </a:spcAft>
              <a:buNone/>
            </a:pPr>
            <a:r>
              <a:rPr b="1" lang="en-US" sz="9156">
                <a:solidFill>
                  <a:srgbClr val="051D40"/>
                </a:solidFill>
                <a:latin typeface="Open Sans ExtraBold"/>
                <a:ea typeface="Open Sans ExtraBold"/>
                <a:cs typeface="Open Sans ExtraBold"/>
                <a:sym typeface="Open Sans ExtraBold"/>
              </a:rPr>
              <a:t>Detection</a:t>
            </a:r>
            <a:endParaRPr b="1" sz="9156">
              <a:solidFill>
                <a:srgbClr val="051D40"/>
              </a:solidFill>
              <a:latin typeface="Open Sans ExtraBold"/>
              <a:ea typeface="Open Sans ExtraBold"/>
              <a:cs typeface="Open Sans ExtraBold"/>
              <a:sym typeface="Open Sans ExtraBold"/>
            </a:endParaRPr>
          </a:p>
        </p:txBody>
      </p:sp>
      <p:grpSp>
        <p:nvGrpSpPr>
          <p:cNvPr id="88" name="Google Shape;88;p1"/>
          <p:cNvGrpSpPr/>
          <p:nvPr/>
        </p:nvGrpSpPr>
        <p:grpSpPr>
          <a:xfrm>
            <a:off x="16420234" y="-1717598"/>
            <a:ext cx="3735531" cy="3735531"/>
            <a:chOff x="0" y="0"/>
            <a:chExt cx="812800" cy="812800"/>
          </a:xfrm>
        </p:grpSpPr>
        <p:sp>
          <p:nvSpPr>
            <p:cNvPr id="89" name="Google Shape;89;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1" name="Google Shape;91;p1"/>
          <p:cNvGrpSpPr/>
          <p:nvPr/>
        </p:nvGrpSpPr>
        <p:grpSpPr>
          <a:xfrm>
            <a:off x="747857" y="-643475"/>
            <a:ext cx="1286950" cy="1286950"/>
            <a:chOff x="0" y="0"/>
            <a:chExt cx="812800" cy="812800"/>
          </a:xfrm>
        </p:grpSpPr>
        <p:sp>
          <p:nvSpPr>
            <p:cNvPr id="92" name="Google Shape;92;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4" name="Google Shape;94;p1"/>
          <p:cNvGrpSpPr/>
          <p:nvPr/>
        </p:nvGrpSpPr>
        <p:grpSpPr>
          <a:xfrm>
            <a:off x="-1929195" y="8389571"/>
            <a:ext cx="3735531" cy="3735531"/>
            <a:chOff x="0" y="0"/>
            <a:chExt cx="812800" cy="812800"/>
          </a:xfrm>
        </p:grpSpPr>
        <p:sp>
          <p:nvSpPr>
            <p:cNvPr id="95" name="Google Shape;95;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7" name="Google Shape;97;p1"/>
          <p:cNvSpPr txBox="1"/>
          <p:nvPr/>
        </p:nvSpPr>
        <p:spPr>
          <a:xfrm>
            <a:off x="2034853" y="5590225"/>
            <a:ext cx="3439500" cy="3093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753">
                <a:solidFill>
                  <a:srgbClr val="051D40"/>
                </a:solidFill>
                <a:latin typeface="Poppins"/>
                <a:ea typeface="Poppins"/>
                <a:cs typeface="Poppins"/>
                <a:sym typeface="Poppins"/>
              </a:rPr>
              <a:t>Team Members:</a:t>
            </a:r>
            <a:endParaRPr b="1" sz="2753">
              <a:solidFill>
                <a:srgbClr val="051D40"/>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753">
              <a:solidFill>
                <a:srgbClr val="051D40"/>
              </a:solidFill>
              <a:latin typeface="Poppins"/>
              <a:ea typeface="Poppins"/>
              <a:cs typeface="Poppins"/>
              <a:sym typeface="Poppins"/>
            </a:endParaRPr>
          </a:p>
          <a:p>
            <a:pPr indent="0" lvl="0" marL="0" marR="0" rtl="0" algn="l">
              <a:lnSpc>
                <a:spcPct val="150000"/>
              </a:lnSpc>
              <a:spcBef>
                <a:spcPts val="0"/>
              </a:spcBef>
              <a:spcAft>
                <a:spcPts val="0"/>
              </a:spcAft>
              <a:buNone/>
            </a:pPr>
            <a:r>
              <a:rPr lang="en-US" sz="2753">
                <a:solidFill>
                  <a:srgbClr val="051D40"/>
                </a:solidFill>
                <a:latin typeface="Poppins"/>
                <a:ea typeface="Poppins"/>
                <a:cs typeface="Poppins"/>
                <a:sym typeface="Poppins"/>
              </a:rPr>
              <a:t>Harikrishnan. S</a:t>
            </a:r>
            <a:endParaRPr sz="2753">
              <a:solidFill>
                <a:srgbClr val="051D40"/>
              </a:solidFill>
              <a:latin typeface="Poppins"/>
              <a:ea typeface="Poppins"/>
              <a:cs typeface="Poppins"/>
              <a:sym typeface="Poppins"/>
            </a:endParaRPr>
          </a:p>
          <a:p>
            <a:pPr indent="0" lvl="0" marL="0" marR="0" rtl="0" algn="l">
              <a:lnSpc>
                <a:spcPct val="140029"/>
              </a:lnSpc>
              <a:spcBef>
                <a:spcPts val="0"/>
              </a:spcBef>
              <a:spcAft>
                <a:spcPts val="0"/>
              </a:spcAft>
              <a:buNone/>
            </a:pPr>
            <a:r>
              <a:rPr lang="en-US" sz="2753">
                <a:solidFill>
                  <a:srgbClr val="051D40"/>
                </a:solidFill>
                <a:latin typeface="Poppins"/>
                <a:ea typeface="Poppins"/>
                <a:cs typeface="Poppins"/>
                <a:sym typeface="Poppins"/>
              </a:rPr>
              <a:t>Jumana Mariyam</a:t>
            </a:r>
            <a:endParaRPr sz="2753">
              <a:solidFill>
                <a:srgbClr val="051D40"/>
              </a:solidFill>
              <a:latin typeface="Poppins"/>
              <a:ea typeface="Poppins"/>
              <a:cs typeface="Poppins"/>
              <a:sym typeface="Poppins"/>
            </a:endParaRPr>
          </a:p>
          <a:p>
            <a:pPr indent="0" lvl="0" marL="0" marR="0" rtl="0" algn="l">
              <a:lnSpc>
                <a:spcPct val="140029"/>
              </a:lnSpc>
              <a:spcBef>
                <a:spcPts val="0"/>
              </a:spcBef>
              <a:spcAft>
                <a:spcPts val="0"/>
              </a:spcAft>
              <a:buNone/>
            </a:pPr>
            <a:r>
              <a:rPr lang="en-US" sz="2753">
                <a:solidFill>
                  <a:srgbClr val="051D40"/>
                </a:solidFill>
                <a:latin typeface="Poppins"/>
                <a:ea typeface="Poppins"/>
                <a:cs typeface="Poppins"/>
                <a:sym typeface="Poppins"/>
              </a:rPr>
              <a:t>Sneha Elizabeth S</a:t>
            </a:r>
            <a:endParaRPr sz="2753">
              <a:solidFill>
                <a:srgbClr val="051D40"/>
              </a:solidFill>
              <a:latin typeface="Poppins"/>
              <a:ea typeface="Poppins"/>
              <a:cs typeface="Poppins"/>
              <a:sym typeface="Poppins"/>
            </a:endParaRPr>
          </a:p>
          <a:p>
            <a:pPr indent="0" lvl="0" marL="0" marR="0" rtl="0" algn="l">
              <a:lnSpc>
                <a:spcPct val="140029"/>
              </a:lnSpc>
              <a:spcBef>
                <a:spcPts val="0"/>
              </a:spcBef>
              <a:spcAft>
                <a:spcPts val="0"/>
              </a:spcAft>
              <a:buNone/>
            </a:pPr>
            <a:r>
              <a:rPr lang="en-US" sz="2753">
                <a:solidFill>
                  <a:srgbClr val="051D40"/>
                </a:solidFill>
                <a:latin typeface="Poppins"/>
                <a:ea typeface="Poppins"/>
                <a:cs typeface="Poppins"/>
                <a:sym typeface="Poppins"/>
              </a:rPr>
              <a:t>Unnikrishnan M.S</a:t>
            </a:r>
            <a:endParaRPr sz="2753">
              <a:solidFill>
                <a:srgbClr val="051D40"/>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01" name="Shape 101"/>
        <p:cNvGrpSpPr/>
        <p:nvPr/>
      </p:nvGrpSpPr>
      <p:grpSpPr>
        <a:xfrm>
          <a:off x="0" y="0"/>
          <a:ext cx="0" cy="0"/>
          <a:chOff x="0" y="0"/>
          <a:chExt cx="0" cy="0"/>
        </a:xfrm>
      </p:grpSpPr>
      <p:grpSp>
        <p:nvGrpSpPr>
          <p:cNvPr id="102" name="Google Shape;102;p2"/>
          <p:cNvGrpSpPr/>
          <p:nvPr/>
        </p:nvGrpSpPr>
        <p:grpSpPr>
          <a:xfrm>
            <a:off x="14517814" y="-460065"/>
            <a:ext cx="3964281" cy="11062470"/>
            <a:chOff x="0" y="-38100"/>
            <a:chExt cx="1044090" cy="2913572"/>
          </a:xfrm>
        </p:grpSpPr>
        <p:sp>
          <p:nvSpPr>
            <p:cNvPr id="103" name="Google Shape;103;p2"/>
            <p:cNvSpPr/>
            <p:nvPr/>
          </p:nvSpPr>
          <p:spPr>
            <a:xfrm>
              <a:off x="0" y="0"/>
              <a:ext cx="1044090" cy="2875472"/>
            </a:xfrm>
            <a:custGeom>
              <a:rect b="b" l="l" r="r" t="t"/>
              <a:pathLst>
                <a:path extrusionOk="0" h="2875472" w="1044090">
                  <a:moveTo>
                    <a:pt x="0" y="0"/>
                  </a:moveTo>
                  <a:lnTo>
                    <a:pt x="1044090" y="0"/>
                  </a:lnTo>
                  <a:lnTo>
                    <a:pt x="1044090" y="2875472"/>
                  </a:lnTo>
                  <a:lnTo>
                    <a:pt x="0" y="2875472"/>
                  </a:lnTo>
                  <a:close/>
                </a:path>
              </a:pathLst>
            </a:custGeom>
            <a:solidFill>
              <a:srgbClr val="145DA0"/>
            </a:solidFill>
            <a:ln>
              <a:noFill/>
            </a:ln>
          </p:spPr>
        </p:sp>
        <p:sp>
          <p:nvSpPr>
            <p:cNvPr id="104" name="Google Shape;104;p2"/>
            <p:cNvSpPr txBox="1"/>
            <p:nvPr/>
          </p:nvSpPr>
          <p:spPr>
            <a:xfrm>
              <a:off x="0" y="-38100"/>
              <a:ext cx="1044090" cy="291357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5" name="Google Shape;105;p2"/>
          <p:cNvSpPr txBox="1"/>
          <p:nvPr/>
        </p:nvSpPr>
        <p:spPr>
          <a:xfrm>
            <a:off x="2261975" y="1556525"/>
            <a:ext cx="3871200" cy="6927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Introduction</a:t>
            </a:r>
            <a:endParaRPr sz="4500"/>
          </a:p>
        </p:txBody>
      </p:sp>
      <p:grpSp>
        <p:nvGrpSpPr>
          <p:cNvPr id="106" name="Google Shape;106;p2"/>
          <p:cNvGrpSpPr/>
          <p:nvPr/>
        </p:nvGrpSpPr>
        <p:grpSpPr>
          <a:xfrm>
            <a:off x="-1867766" y="-1614217"/>
            <a:ext cx="3735531" cy="3735531"/>
            <a:chOff x="0" y="0"/>
            <a:chExt cx="812800" cy="812800"/>
          </a:xfrm>
        </p:grpSpPr>
        <p:sp>
          <p:nvSpPr>
            <p:cNvPr id="107" name="Google Shape;10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9" name="Google Shape;109;p2"/>
          <p:cNvSpPr txBox="1"/>
          <p:nvPr/>
        </p:nvSpPr>
        <p:spPr>
          <a:xfrm>
            <a:off x="2033375" y="2607299"/>
            <a:ext cx="8884200" cy="6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t/>
            </a:r>
            <a:endParaRPr sz="1200">
              <a:solidFill>
                <a:srgbClr val="E3E3E3"/>
              </a:solidFill>
              <a:highlight>
                <a:srgbClr val="131314"/>
              </a:highlight>
            </a:endParaRPr>
          </a:p>
          <a:p>
            <a:pPr indent="0" lvl="0" marL="0" rtl="0" algn="l">
              <a:lnSpc>
                <a:spcPct val="150000"/>
              </a:lnSpc>
              <a:spcBef>
                <a:spcPts val="1200"/>
              </a:spcBef>
              <a:spcAft>
                <a:spcPts val="0"/>
              </a:spcAft>
              <a:buNone/>
            </a:pPr>
            <a:r>
              <a:rPr lang="en-US" sz="2350">
                <a:solidFill>
                  <a:schemeClr val="dk1"/>
                </a:solidFill>
                <a:latin typeface="Poppins"/>
                <a:ea typeface="Poppins"/>
                <a:cs typeface="Poppins"/>
                <a:sym typeface="Poppins"/>
              </a:rPr>
              <a:t>Early detection is crucial in the fight against oral cancer. Our project aims to leverage the power of artificial intelligence (AI) to create a user-friendly mobile application that can assist in the early identification of potential oral cancer symptoms.</a:t>
            </a:r>
            <a:endParaRPr sz="235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235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lang="en-US" sz="2350">
                <a:solidFill>
                  <a:schemeClr val="dk1"/>
                </a:solidFill>
                <a:latin typeface="Poppins"/>
                <a:ea typeface="Poppins"/>
                <a:cs typeface="Poppins"/>
                <a:sym typeface="Poppins"/>
              </a:rPr>
              <a:t>This app utilizes a ResNet-based deep learning model, trained to analyze images of oral lesions. By integrating this model within the app, we strive to empower individuals to proactively monitor their oral health and potentially detect concerning signs at an earlier stage.</a:t>
            </a:r>
            <a:endParaRPr sz="2350">
              <a:solidFill>
                <a:schemeClr val="dk1"/>
              </a:solidFill>
              <a:latin typeface="Poppins"/>
              <a:ea typeface="Poppins"/>
              <a:cs typeface="Poppins"/>
              <a:sym typeface="Poppins"/>
            </a:endParaRPr>
          </a:p>
        </p:txBody>
      </p:sp>
      <p:pic>
        <p:nvPicPr>
          <p:cNvPr id="110" name="Google Shape;110;p2"/>
          <p:cNvPicPr preferRelativeResize="0"/>
          <p:nvPr/>
        </p:nvPicPr>
        <p:blipFill rotWithShape="1">
          <a:blip r:embed="rId3">
            <a:alphaModFix/>
          </a:blip>
          <a:srcRect b="0" l="11599" r="11936" t="0"/>
          <a:stretch/>
        </p:blipFill>
        <p:spPr>
          <a:xfrm rot="5400000">
            <a:off x="9479199" y="2428325"/>
            <a:ext cx="10285376" cy="5451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grpSp>
        <p:nvGrpSpPr>
          <p:cNvPr id="115" name="Google Shape;115;g26e9d5ea29e_0_22"/>
          <p:cNvGrpSpPr/>
          <p:nvPr/>
        </p:nvGrpSpPr>
        <p:grpSpPr>
          <a:xfrm>
            <a:off x="-1595820" y="-1782102"/>
            <a:ext cx="3564209" cy="3564209"/>
            <a:chOff x="0" y="0"/>
            <a:chExt cx="812800" cy="812800"/>
          </a:xfrm>
        </p:grpSpPr>
        <p:sp>
          <p:nvSpPr>
            <p:cNvPr id="116" name="Google Shape;116;g26e9d5ea29e_0_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051D40">
                  <a:alpha val="1529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26e9d5ea29e_0_2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8" name="Google Shape;118;g26e9d5ea29e_0_22"/>
          <p:cNvGrpSpPr/>
          <p:nvPr/>
        </p:nvGrpSpPr>
        <p:grpSpPr>
          <a:xfrm>
            <a:off x="13266830" y="-144662"/>
            <a:ext cx="5021203" cy="10431728"/>
            <a:chOff x="0" y="-38100"/>
            <a:chExt cx="1322448" cy="2747433"/>
          </a:xfrm>
        </p:grpSpPr>
        <p:sp>
          <p:nvSpPr>
            <p:cNvPr id="119" name="Google Shape;119;g26e9d5ea29e_0_22"/>
            <p:cNvSpPr/>
            <p:nvPr/>
          </p:nvSpPr>
          <p:spPr>
            <a:xfrm>
              <a:off x="0" y="0"/>
              <a:ext cx="1322448" cy="2709333"/>
            </a:xfrm>
            <a:custGeom>
              <a:rect b="b" l="l" r="r" t="t"/>
              <a:pathLst>
                <a:path extrusionOk="0" h="2709333" w="1322448">
                  <a:moveTo>
                    <a:pt x="0" y="0"/>
                  </a:moveTo>
                  <a:lnTo>
                    <a:pt x="1322448" y="0"/>
                  </a:lnTo>
                  <a:lnTo>
                    <a:pt x="1322448" y="2709333"/>
                  </a:lnTo>
                  <a:lnTo>
                    <a:pt x="0" y="2709333"/>
                  </a:lnTo>
                  <a:close/>
                </a:path>
              </a:pathLst>
            </a:custGeom>
            <a:solidFill>
              <a:srgbClr val="051D40"/>
            </a:solidFill>
            <a:ln>
              <a:noFill/>
            </a:ln>
          </p:spPr>
        </p:sp>
        <p:sp>
          <p:nvSpPr>
            <p:cNvPr id="120" name="Google Shape;120;g26e9d5ea29e_0_22"/>
            <p:cNvSpPr txBox="1"/>
            <p:nvPr/>
          </p:nvSpPr>
          <p:spPr>
            <a:xfrm>
              <a:off x="0" y="-38100"/>
              <a:ext cx="1322400" cy="2747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1" name="Google Shape;121;g26e9d5ea29e_0_22"/>
          <p:cNvSpPr txBox="1"/>
          <p:nvPr/>
        </p:nvSpPr>
        <p:spPr>
          <a:xfrm>
            <a:off x="2338176" y="1394625"/>
            <a:ext cx="3024600" cy="6927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Objective</a:t>
            </a:r>
            <a:endParaRPr sz="4500"/>
          </a:p>
        </p:txBody>
      </p:sp>
      <p:sp>
        <p:nvSpPr>
          <p:cNvPr id="122" name="Google Shape;122;g26e9d5ea29e_0_22"/>
          <p:cNvSpPr txBox="1"/>
          <p:nvPr/>
        </p:nvSpPr>
        <p:spPr>
          <a:xfrm>
            <a:off x="2109575" y="2868500"/>
            <a:ext cx="8025300" cy="163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350">
                <a:solidFill>
                  <a:schemeClr val="dk1"/>
                </a:solidFill>
                <a:latin typeface="Poppins"/>
                <a:ea typeface="Poppins"/>
                <a:cs typeface="Poppins"/>
                <a:sym typeface="Poppins"/>
              </a:rPr>
              <a:t>The Objective of this  project is to harness the power of deep learning to develop a mobile application for the early detection of oral cancer using images. </a:t>
            </a:r>
            <a:endParaRPr sz="2100">
              <a:solidFill>
                <a:schemeClr val="dk1"/>
              </a:solidFill>
              <a:latin typeface="Poppins"/>
              <a:ea typeface="Poppins"/>
              <a:cs typeface="Poppins"/>
              <a:sym typeface="Poppins"/>
            </a:endParaRPr>
          </a:p>
        </p:txBody>
      </p:sp>
      <p:sp>
        <p:nvSpPr>
          <p:cNvPr id="123" name="Google Shape;123;g26e9d5ea29e_0_22"/>
          <p:cNvSpPr txBox="1"/>
          <p:nvPr/>
        </p:nvSpPr>
        <p:spPr>
          <a:xfrm>
            <a:off x="2109575" y="5080275"/>
            <a:ext cx="7640400" cy="217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350">
                <a:solidFill>
                  <a:schemeClr val="dk1"/>
                </a:solidFill>
                <a:latin typeface="Poppins"/>
                <a:ea typeface="Poppins"/>
                <a:cs typeface="Poppins"/>
                <a:sym typeface="Poppins"/>
              </a:rPr>
              <a:t>We aim to create a robust deep learning model capable of accurately classifying oral images into three distinct categories: precancerous, normal, and cancerous. </a:t>
            </a:r>
            <a:endParaRPr sz="2100">
              <a:solidFill>
                <a:schemeClr val="dk1"/>
              </a:solidFill>
              <a:latin typeface="Poppins"/>
              <a:ea typeface="Poppins"/>
              <a:cs typeface="Poppins"/>
              <a:sym typeface="Poppins"/>
            </a:endParaRPr>
          </a:p>
        </p:txBody>
      </p:sp>
      <p:pic>
        <p:nvPicPr>
          <p:cNvPr id="124" name="Google Shape;124;g26e9d5ea29e_0_22"/>
          <p:cNvPicPr preferRelativeResize="0"/>
          <p:nvPr/>
        </p:nvPicPr>
        <p:blipFill rotWithShape="1">
          <a:blip r:embed="rId3">
            <a:alphaModFix/>
          </a:blip>
          <a:srcRect b="0" l="0" r="8332" t="0"/>
          <a:stretch/>
        </p:blipFill>
        <p:spPr>
          <a:xfrm>
            <a:off x="8901825" y="411275"/>
            <a:ext cx="7003700" cy="9472276"/>
          </a:xfrm>
          <a:prstGeom prst="rect">
            <a:avLst/>
          </a:prstGeom>
          <a:noFill/>
          <a:ln>
            <a:noFill/>
          </a:ln>
        </p:spPr>
      </p:pic>
      <p:grpSp>
        <p:nvGrpSpPr>
          <p:cNvPr id="125" name="Google Shape;125;g26e9d5ea29e_0_22"/>
          <p:cNvGrpSpPr/>
          <p:nvPr/>
        </p:nvGrpSpPr>
        <p:grpSpPr>
          <a:xfrm>
            <a:off x="14700679" y="7074186"/>
            <a:ext cx="5946932" cy="5946932"/>
            <a:chOff x="0" y="0"/>
            <a:chExt cx="812800" cy="812800"/>
          </a:xfrm>
        </p:grpSpPr>
        <p:sp>
          <p:nvSpPr>
            <p:cNvPr id="126" name="Google Shape;126;g26e9d5ea29e_0_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FFFFFF">
                  <a:alpha val="1529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26e9d5ea29e_0_2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31" name="Shape 131"/>
        <p:cNvGrpSpPr/>
        <p:nvPr/>
      </p:nvGrpSpPr>
      <p:grpSpPr>
        <a:xfrm>
          <a:off x="0" y="0"/>
          <a:ext cx="0" cy="0"/>
          <a:chOff x="0" y="0"/>
          <a:chExt cx="0" cy="0"/>
        </a:xfrm>
      </p:grpSpPr>
      <p:grpSp>
        <p:nvGrpSpPr>
          <p:cNvPr id="132" name="Google Shape;132;p4"/>
          <p:cNvGrpSpPr/>
          <p:nvPr/>
        </p:nvGrpSpPr>
        <p:grpSpPr>
          <a:xfrm>
            <a:off x="-2517487" y="-2936898"/>
            <a:ext cx="4693026" cy="4693026"/>
            <a:chOff x="0" y="0"/>
            <a:chExt cx="812800" cy="812800"/>
          </a:xfrm>
        </p:grpSpPr>
        <p:sp>
          <p:nvSpPr>
            <p:cNvPr id="133" name="Google Shape;133;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5" name="Google Shape;135;p4"/>
          <p:cNvGrpSpPr/>
          <p:nvPr/>
        </p:nvGrpSpPr>
        <p:grpSpPr>
          <a:xfrm>
            <a:off x="12235700" y="1653176"/>
            <a:ext cx="5739338" cy="8651746"/>
            <a:chOff x="0" y="0"/>
            <a:chExt cx="660400" cy="993118"/>
          </a:xfrm>
        </p:grpSpPr>
        <p:sp>
          <p:nvSpPr>
            <p:cNvPr id="136" name="Google Shape;136;p4"/>
            <p:cNvSpPr/>
            <p:nvPr/>
          </p:nvSpPr>
          <p:spPr>
            <a:xfrm>
              <a:off x="0" y="0"/>
              <a:ext cx="660400" cy="993118"/>
            </a:xfrm>
            <a:custGeom>
              <a:rect b="b" l="l" r="r" t="t"/>
              <a:pathLst>
                <a:path extrusionOk="0" h="993118"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txBox="1"/>
            <p:nvPr/>
          </p:nvSpPr>
          <p:spPr>
            <a:xfrm>
              <a:off x="0" y="88900"/>
              <a:ext cx="660400" cy="90421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8" name="Google Shape;138;p4"/>
          <p:cNvSpPr/>
          <p:nvPr/>
        </p:nvSpPr>
        <p:spPr>
          <a:xfrm>
            <a:off x="12545714" y="1933064"/>
            <a:ext cx="5119783" cy="5119783"/>
          </a:xfrm>
          <a:custGeom>
            <a:rect b="b" l="l" r="r" t="t"/>
            <a:pathLst>
              <a:path extrusionOk="0"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txBox="1"/>
          <p:nvPr/>
        </p:nvSpPr>
        <p:spPr>
          <a:xfrm>
            <a:off x="2432750" y="1265925"/>
            <a:ext cx="48021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Existing System</a:t>
            </a:r>
            <a:endParaRPr/>
          </a:p>
        </p:txBody>
      </p:sp>
      <p:pic>
        <p:nvPicPr>
          <p:cNvPr id="140" name="Google Shape;140;p4"/>
          <p:cNvPicPr preferRelativeResize="0"/>
          <p:nvPr/>
        </p:nvPicPr>
        <p:blipFill>
          <a:blip r:embed="rId3">
            <a:alphaModFix/>
          </a:blip>
          <a:stretch>
            <a:fillRect/>
          </a:stretch>
        </p:blipFill>
        <p:spPr>
          <a:xfrm>
            <a:off x="12658141" y="2045719"/>
            <a:ext cx="4894438" cy="4906298"/>
          </a:xfrm>
          <a:prstGeom prst="rect">
            <a:avLst/>
          </a:prstGeom>
          <a:noFill/>
          <a:ln>
            <a:noFill/>
          </a:ln>
        </p:spPr>
      </p:pic>
      <p:sp>
        <p:nvSpPr>
          <p:cNvPr id="141" name="Google Shape;141;p4"/>
          <p:cNvSpPr txBox="1"/>
          <p:nvPr/>
        </p:nvSpPr>
        <p:spPr>
          <a:xfrm>
            <a:off x="1364725" y="2298975"/>
            <a:ext cx="11040900" cy="75384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The conventional method for oral cancer detection primarily relies on biopsy procedures, which are both costly and painful, making them inaccessible to a significant portion of the population due to financial constraints.</a:t>
            </a:r>
            <a:endParaRPr sz="2300">
              <a:solidFill>
                <a:schemeClr val="dk1"/>
              </a:solidFill>
              <a:latin typeface="Poppins"/>
              <a:ea typeface="Poppins"/>
              <a:cs typeface="Poppins"/>
              <a:sym typeface="Poppins"/>
            </a:endParaRPr>
          </a:p>
          <a:p>
            <a:pPr indent="0" lvl="0" marL="457200" rtl="0" algn="l">
              <a:lnSpc>
                <a:spcPct val="100000"/>
              </a:lnSpc>
              <a:spcBef>
                <a:spcPts val="0"/>
              </a:spcBef>
              <a:spcAft>
                <a:spcPts val="0"/>
              </a:spcAft>
              <a:buNone/>
            </a:pPr>
            <a:r>
              <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Existing models lack adequate representation of oral lesions, with issues such as insufficient standardization in image acquisition and limited diversity in intraoral pathology for training.</a:t>
            </a:r>
            <a:endParaRPr sz="2300">
              <a:solidFill>
                <a:schemeClr val="dk1"/>
              </a:solidFill>
              <a:latin typeface="Poppins"/>
              <a:ea typeface="Poppins"/>
              <a:cs typeface="Poppins"/>
              <a:sym typeface="Poppins"/>
            </a:endParaRPr>
          </a:p>
          <a:p>
            <a:pPr indent="0" lvl="0" marL="457200" rtl="0" algn="l">
              <a:lnSpc>
                <a:spcPct val="100000"/>
              </a:lnSpc>
              <a:spcBef>
                <a:spcPts val="0"/>
              </a:spcBef>
              <a:spcAft>
                <a:spcPts val="0"/>
              </a:spcAft>
              <a:buNone/>
            </a:pPr>
            <a:r>
              <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Inherent limitations include small sample sizes, imbalanced class distributions, and potential biases within the dataset, affecting generalizability and robustness.</a:t>
            </a:r>
            <a:endParaRPr sz="2300">
              <a:solidFill>
                <a:schemeClr val="dk1"/>
              </a:solidFill>
              <a:latin typeface="Poppins"/>
              <a:ea typeface="Poppins"/>
              <a:cs typeface="Poppins"/>
              <a:sym typeface="Poppins"/>
            </a:endParaRPr>
          </a:p>
          <a:p>
            <a:pPr indent="0" lvl="0" marL="457200" rtl="0" algn="l">
              <a:lnSpc>
                <a:spcPct val="100000"/>
              </a:lnSpc>
              <a:spcBef>
                <a:spcPts val="0"/>
              </a:spcBef>
              <a:spcAft>
                <a:spcPts val="0"/>
              </a:spcAft>
              <a:buNone/>
            </a:pPr>
            <a:r>
              <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Interpretive capacity may be hindered by complex classification outcomes and a lack of clear insights into contributing factors.</a:t>
            </a:r>
            <a:endParaRPr sz="2300">
              <a:solidFill>
                <a:schemeClr val="dk1"/>
              </a:solidFill>
              <a:latin typeface="Poppins"/>
              <a:ea typeface="Poppins"/>
              <a:cs typeface="Poppins"/>
              <a:sym typeface="Poppins"/>
            </a:endParaRPr>
          </a:p>
          <a:p>
            <a:pPr indent="0" lvl="0" marL="457200" rtl="0" algn="l">
              <a:lnSpc>
                <a:spcPct val="100000"/>
              </a:lnSpc>
              <a:spcBef>
                <a:spcPts val="0"/>
              </a:spcBef>
              <a:spcAft>
                <a:spcPts val="0"/>
              </a:spcAft>
              <a:buNone/>
            </a:pPr>
            <a:r>
              <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Calibri"/>
              <a:buChar char="●"/>
            </a:pPr>
            <a:r>
              <a:rPr lang="en-US" sz="2300">
                <a:solidFill>
                  <a:schemeClr val="dk1"/>
                </a:solidFill>
                <a:latin typeface="Poppins"/>
                <a:ea typeface="Poppins"/>
                <a:cs typeface="Poppins"/>
                <a:sym typeface="Poppins"/>
              </a:rPr>
              <a:t>Existing solutions often have large model sizes and rely on cloud-based deployment, limiting accessibility and scalabilit</a:t>
            </a:r>
            <a:r>
              <a:rPr lang="en-US" sz="2300">
                <a:solidFill>
                  <a:schemeClr val="dk1"/>
                </a:solidFill>
                <a:latin typeface="Calibri"/>
                <a:ea typeface="Calibri"/>
                <a:cs typeface="Calibri"/>
                <a:sym typeface="Calibri"/>
              </a:rPr>
              <a:t>y.</a:t>
            </a:r>
            <a:endParaRPr sz="23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45" name="Shape 145"/>
        <p:cNvGrpSpPr/>
        <p:nvPr/>
      </p:nvGrpSpPr>
      <p:grpSpPr>
        <a:xfrm>
          <a:off x="0" y="0"/>
          <a:ext cx="0" cy="0"/>
          <a:chOff x="0" y="0"/>
          <a:chExt cx="0" cy="0"/>
        </a:xfrm>
      </p:grpSpPr>
      <p:grpSp>
        <p:nvGrpSpPr>
          <p:cNvPr id="146" name="Google Shape;146;g26e9d5ea29e_2_0"/>
          <p:cNvGrpSpPr/>
          <p:nvPr/>
        </p:nvGrpSpPr>
        <p:grpSpPr>
          <a:xfrm>
            <a:off x="-2517487" y="-2936898"/>
            <a:ext cx="4693026" cy="4693026"/>
            <a:chOff x="0" y="0"/>
            <a:chExt cx="812800" cy="812800"/>
          </a:xfrm>
        </p:grpSpPr>
        <p:sp>
          <p:nvSpPr>
            <p:cNvPr id="147" name="Google Shape;147;g26e9d5ea29e_2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26e9d5ea29e_2_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9" name="Google Shape;149;g26e9d5ea29e_2_0"/>
          <p:cNvSpPr/>
          <p:nvPr/>
        </p:nvSpPr>
        <p:spPr>
          <a:xfrm>
            <a:off x="10618778" y="1464283"/>
            <a:ext cx="6255039" cy="6255039"/>
          </a:xfrm>
          <a:custGeom>
            <a:rect b="b" l="l" r="r" t="t"/>
            <a:pathLst>
              <a:path extrusionOk="0"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26e9d5ea29e_2_0"/>
          <p:cNvSpPr txBox="1"/>
          <p:nvPr/>
        </p:nvSpPr>
        <p:spPr>
          <a:xfrm>
            <a:off x="2480350" y="1235675"/>
            <a:ext cx="86076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Proposed system</a:t>
            </a:r>
            <a:endParaRPr/>
          </a:p>
        </p:txBody>
      </p:sp>
      <p:sp>
        <p:nvSpPr>
          <p:cNvPr id="151" name="Google Shape;151;g26e9d5ea29e_2_0"/>
          <p:cNvSpPr txBox="1"/>
          <p:nvPr/>
        </p:nvSpPr>
        <p:spPr>
          <a:xfrm>
            <a:off x="1355750" y="2228150"/>
            <a:ext cx="10724700" cy="74733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Introduces a novel solution that overcomes the constraints of traditional biopsy procedures and enhances accessibility to early detection services.</a:t>
            </a:r>
            <a:endParaRPr sz="2300">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Our system enhances the accuracy and reliability of oral cancer screening, by making use of Resnet for feature extraction and CNN for classification, providing a robust framework for identifying pre-cancerous and cancerous lesions with better precision.</a:t>
            </a:r>
            <a:endParaRPr sz="2300">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The development of a user-friendly mobile application interface ensures widespread accessibility to the screening tool, enabling individuals from diverse socioeconomic backgrounds to avail themselves of early detection services conveniently.</a:t>
            </a:r>
            <a:endParaRPr sz="2300">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By facilitating real-time image analysis and prediction, our system empowers users to make informed decisions regarding their oral health status promptly, without the need for specialized equipment or invasive procedures.</a:t>
            </a:r>
            <a:endParaRPr sz="2300">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2400">
              <a:solidFill>
                <a:schemeClr val="dk1"/>
              </a:solidFill>
              <a:latin typeface="Poppins"/>
              <a:ea typeface="Poppins"/>
              <a:cs typeface="Poppins"/>
              <a:sym typeface="Poppins"/>
            </a:endParaRPr>
          </a:p>
        </p:txBody>
      </p:sp>
      <p:grpSp>
        <p:nvGrpSpPr>
          <p:cNvPr id="152" name="Google Shape;152;g26e9d5ea29e_2_0"/>
          <p:cNvGrpSpPr/>
          <p:nvPr/>
        </p:nvGrpSpPr>
        <p:grpSpPr>
          <a:xfrm>
            <a:off x="12235700" y="1653176"/>
            <a:ext cx="5739338" cy="8651746"/>
            <a:chOff x="0" y="0"/>
            <a:chExt cx="660400" cy="993118"/>
          </a:xfrm>
        </p:grpSpPr>
        <p:sp>
          <p:nvSpPr>
            <p:cNvPr id="153" name="Google Shape;153;g26e9d5ea29e_2_0"/>
            <p:cNvSpPr/>
            <p:nvPr/>
          </p:nvSpPr>
          <p:spPr>
            <a:xfrm>
              <a:off x="0" y="0"/>
              <a:ext cx="660400" cy="993118"/>
            </a:xfrm>
            <a:custGeom>
              <a:rect b="b" l="l" r="r" t="t"/>
              <a:pathLst>
                <a:path extrusionOk="0" h="993118"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26e9d5ea29e_2_0"/>
            <p:cNvSpPr txBox="1"/>
            <p:nvPr/>
          </p:nvSpPr>
          <p:spPr>
            <a:xfrm>
              <a:off x="0" y="88900"/>
              <a:ext cx="660300" cy="9042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5" name="Google Shape;155;g26e9d5ea29e_2_0"/>
          <p:cNvSpPr/>
          <p:nvPr/>
        </p:nvSpPr>
        <p:spPr>
          <a:xfrm>
            <a:off x="12545714" y="1933064"/>
            <a:ext cx="5119783" cy="5119783"/>
          </a:xfrm>
          <a:custGeom>
            <a:rect b="b" l="l" r="r" t="t"/>
            <a:pathLst>
              <a:path extrusionOk="0"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 name="Google Shape;156;g26e9d5ea29e_2_0"/>
          <p:cNvPicPr preferRelativeResize="0"/>
          <p:nvPr/>
        </p:nvPicPr>
        <p:blipFill>
          <a:blip r:embed="rId3">
            <a:alphaModFix/>
          </a:blip>
          <a:stretch>
            <a:fillRect/>
          </a:stretch>
        </p:blipFill>
        <p:spPr>
          <a:xfrm>
            <a:off x="12658141" y="2045719"/>
            <a:ext cx="4894438" cy="49062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60" name="Shape 160"/>
        <p:cNvGrpSpPr/>
        <p:nvPr/>
      </p:nvGrpSpPr>
      <p:grpSpPr>
        <a:xfrm>
          <a:off x="0" y="0"/>
          <a:ext cx="0" cy="0"/>
          <a:chOff x="0" y="0"/>
          <a:chExt cx="0" cy="0"/>
        </a:xfrm>
      </p:grpSpPr>
      <p:grpSp>
        <p:nvGrpSpPr>
          <p:cNvPr id="161" name="Google Shape;161;g26e9d5ea29e_0_7"/>
          <p:cNvGrpSpPr/>
          <p:nvPr/>
        </p:nvGrpSpPr>
        <p:grpSpPr>
          <a:xfrm>
            <a:off x="13266830" y="-144662"/>
            <a:ext cx="5021203" cy="10431728"/>
            <a:chOff x="0" y="-38100"/>
            <a:chExt cx="1322448" cy="2747433"/>
          </a:xfrm>
        </p:grpSpPr>
        <p:sp>
          <p:nvSpPr>
            <p:cNvPr id="162" name="Google Shape;162;g26e9d5ea29e_0_7"/>
            <p:cNvSpPr/>
            <p:nvPr/>
          </p:nvSpPr>
          <p:spPr>
            <a:xfrm>
              <a:off x="0" y="0"/>
              <a:ext cx="1322448" cy="2709333"/>
            </a:xfrm>
            <a:custGeom>
              <a:rect b="b" l="l" r="r" t="t"/>
              <a:pathLst>
                <a:path extrusionOk="0" h="2709333" w="1322448">
                  <a:moveTo>
                    <a:pt x="0" y="0"/>
                  </a:moveTo>
                  <a:lnTo>
                    <a:pt x="1322448" y="0"/>
                  </a:lnTo>
                  <a:lnTo>
                    <a:pt x="1322448" y="2709333"/>
                  </a:lnTo>
                  <a:lnTo>
                    <a:pt x="0" y="2709333"/>
                  </a:lnTo>
                  <a:close/>
                </a:path>
              </a:pathLst>
            </a:custGeom>
            <a:solidFill>
              <a:srgbClr val="145DA0"/>
            </a:solidFill>
            <a:ln>
              <a:noFill/>
            </a:ln>
          </p:spPr>
        </p:sp>
        <p:sp>
          <p:nvSpPr>
            <p:cNvPr id="163" name="Google Shape;163;g26e9d5ea29e_0_7"/>
            <p:cNvSpPr txBox="1"/>
            <p:nvPr/>
          </p:nvSpPr>
          <p:spPr>
            <a:xfrm>
              <a:off x="0" y="-38100"/>
              <a:ext cx="1322400" cy="2747400"/>
            </a:xfrm>
            <a:prstGeom prst="rect">
              <a:avLst/>
            </a:prstGeom>
            <a:solidFill>
              <a:srgbClr val="145DA0"/>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4" name="Google Shape;164;g26e9d5ea29e_0_7"/>
          <p:cNvSpPr txBox="1"/>
          <p:nvPr/>
        </p:nvSpPr>
        <p:spPr>
          <a:xfrm>
            <a:off x="2561632" y="967254"/>
            <a:ext cx="79224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Model Used</a:t>
            </a:r>
            <a:endParaRPr/>
          </a:p>
        </p:txBody>
      </p:sp>
      <p:grpSp>
        <p:nvGrpSpPr>
          <p:cNvPr id="165" name="Google Shape;165;g26e9d5ea29e_0_7"/>
          <p:cNvGrpSpPr/>
          <p:nvPr/>
        </p:nvGrpSpPr>
        <p:grpSpPr>
          <a:xfrm>
            <a:off x="-1595820" y="-1782102"/>
            <a:ext cx="3564209" cy="3564209"/>
            <a:chOff x="0" y="0"/>
            <a:chExt cx="812800" cy="812800"/>
          </a:xfrm>
        </p:grpSpPr>
        <p:sp>
          <p:nvSpPr>
            <p:cNvPr id="166" name="Google Shape;166;g26e9d5ea29e_0_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051D40">
                  <a:alpha val="1529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26e9d5ea29e_0_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8" name="Google Shape;168;g26e9d5ea29e_0_7"/>
          <p:cNvSpPr txBox="1"/>
          <p:nvPr/>
        </p:nvSpPr>
        <p:spPr>
          <a:xfrm>
            <a:off x="1609125" y="2356975"/>
            <a:ext cx="11082300" cy="78645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0"/>
              </a:spcBef>
              <a:spcAft>
                <a:spcPts val="0"/>
              </a:spcAft>
              <a:buNone/>
            </a:pPr>
            <a:r>
              <a:rPr lang="en-US" sz="2330">
                <a:solidFill>
                  <a:srgbClr val="051D40"/>
                </a:solidFill>
                <a:latin typeface="Poppins Medium"/>
                <a:ea typeface="Poppins Medium"/>
                <a:cs typeface="Poppins Medium"/>
                <a:sym typeface="Poppins Medium"/>
              </a:rPr>
              <a:t>Feature Extraction: ResNet101</a:t>
            </a:r>
            <a:endParaRPr sz="2330">
              <a:solidFill>
                <a:srgbClr val="051D40"/>
              </a:solidFill>
              <a:latin typeface="Poppins Medium"/>
              <a:ea typeface="Poppins Medium"/>
              <a:cs typeface="Poppins Medium"/>
              <a:sym typeface="Poppins Medium"/>
            </a:endParaRPr>
          </a:p>
          <a:p>
            <a:pPr indent="0" lvl="0" marL="0" marR="0" rtl="0" algn="l">
              <a:lnSpc>
                <a:spcPct val="115000"/>
              </a:lnSpc>
              <a:spcBef>
                <a:spcPts val="1000"/>
              </a:spcBef>
              <a:spcAft>
                <a:spcPts val="0"/>
              </a:spcAft>
              <a:buNone/>
            </a:pPr>
            <a:r>
              <a:rPr lang="en-US" sz="2330">
                <a:solidFill>
                  <a:srgbClr val="051D40"/>
                </a:solidFill>
                <a:latin typeface="Poppins"/>
                <a:ea typeface="Poppins"/>
                <a:cs typeface="Poppins"/>
                <a:sym typeface="Poppins"/>
              </a:rPr>
              <a:t>ResNet101 is a deep convolutional neural network architecture that has achieved remarkable success in various computer vision tasks, including image classification and feature extraction. Developed by Microsoft Research, ResNet (short for Residual Network) introduced the concept of residual learning, which addresses the challenge of training very deep neural networks by using skip connections or "residual blocks" to facilitate gradient flow during training.</a:t>
            </a:r>
            <a:endParaRPr sz="2330">
              <a:solidFill>
                <a:srgbClr val="051D40"/>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330">
              <a:solidFill>
                <a:srgbClr val="051D40"/>
              </a:solidFill>
              <a:latin typeface="Poppins"/>
              <a:ea typeface="Poppins"/>
              <a:cs typeface="Poppins"/>
              <a:sym typeface="Poppins"/>
            </a:endParaRPr>
          </a:p>
          <a:p>
            <a:pPr indent="0" lvl="0" marL="0" marR="0" rtl="0" algn="l">
              <a:lnSpc>
                <a:spcPct val="115000"/>
              </a:lnSpc>
              <a:spcBef>
                <a:spcPts val="0"/>
              </a:spcBef>
              <a:spcAft>
                <a:spcPts val="0"/>
              </a:spcAft>
              <a:buNone/>
            </a:pPr>
            <a:r>
              <a:rPr lang="en-US" sz="2330">
                <a:solidFill>
                  <a:srgbClr val="051D40"/>
                </a:solidFill>
                <a:latin typeface="Poppins"/>
                <a:ea typeface="Poppins"/>
                <a:cs typeface="Poppins"/>
                <a:sym typeface="Poppins"/>
              </a:rPr>
              <a:t>After feature extraction using ResNet101, a total of 100,352 features are obtained from the input images. These features encapsulate rich information about the oral lesions present in the images and serve as the input to subsequent stages of the classification process. By leveraging the comprehensive feature representation provided by ResNet101, our model can effectively discriminate between different classes of oral lesions and make accurate predictions regarding the presence of pre-cancerous or cancerous conditions.</a:t>
            </a:r>
            <a:endParaRPr sz="2330">
              <a:solidFill>
                <a:srgbClr val="051D40"/>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2330">
              <a:solidFill>
                <a:srgbClr val="051D40"/>
              </a:solidFill>
              <a:latin typeface="Poppins"/>
              <a:ea typeface="Poppins"/>
              <a:cs typeface="Poppins"/>
              <a:sym typeface="Poppins"/>
            </a:endParaRPr>
          </a:p>
          <a:p>
            <a:pPr indent="0" lvl="0" marL="0" marR="0" rtl="0" algn="just">
              <a:lnSpc>
                <a:spcPct val="115000"/>
              </a:lnSpc>
              <a:spcBef>
                <a:spcPts val="0"/>
              </a:spcBef>
              <a:spcAft>
                <a:spcPts val="0"/>
              </a:spcAft>
              <a:buClr>
                <a:srgbClr val="000000"/>
              </a:buClr>
              <a:buFont typeface="Arial"/>
              <a:buNone/>
            </a:pPr>
            <a:r>
              <a:t/>
            </a:r>
            <a:endParaRPr sz="2029">
              <a:solidFill>
                <a:srgbClr val="051D40"/>
              </a:solidFill>
              <a:latin typeface="Poppins"/>
              <a:ea typeface="Poppins"/>
              <a:cs typeface="Poppins"/>
              <a:sym typeface="Poppins"/>
            </a:endParaRPr>
          </a:p>
        </p:txBody>
      </p:sp>
      <p:grpSp>
        <p:nvGrpSpPr>
          <p:cNvPr id="169" name="Google Shape;169;g26e9d5ea29e_0_7"/>
          <p:cNvGrpSpPr/>
          <p:nvPr/>
        </p:nvGrpSpPr>
        <p:grpSpPr>
          <a:xfrm>
            <a:off x="14700679" y="7074186"/>
            <a:ext cx="5946932" cy="5946932"/>
            <a:chOff x="0" y="0"/>
            <a:chExt cx="812800" cy="812800"/>
          </a:xfrm>
        </p:grpSpPr>
        <p:sp>
          <p:nvSpPr>
            <p:cNvPr id="170" name="Google Shape;170;g26e9d5ea29e_0_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FFFFFF">
                  <a:alpha val="1529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26e9d5ea29e_0_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75" name="Shape 175"/>
        <p:cNvGrpSpPr/>
        <p:nvPr/>
      </p:nvGrpSpPr>
      <p:grpSpPr>
        <a:xfrm>
          <a:off x="0" y="0"/>
          <a:ext cx="0" cy="0"/>
          <a:chOff x="0" y="0"/>
          <a:chExt cx="0" cy="0"/>
        </a:xfrm>
      </p:grpSpPr>
      <p:grpSp>
        <p:nvGrpSpPr>
          <p:cNvPr id="176" name="Google Shape;176;p5"/>
          <p:cNvGrpSpPr/>
          <p:nvPr/>
        </p:nvGrpSpPr>
        <p:grpSpPr>
          <a:xfrm>
            <a:off x="13266830" y="-144662"/>
            <a:ext cx="5021203" cy="10431728"/>
            <a:chOff x="0" y="-38100"/>
            <a:chExt cx="1322448" cy="2747433"/>
          </a:xfrm>
        </p:grpSpPr>
        <p:sp>
          <p:nvSpPr>
            <p:cNvPr id="177" name="Google Shape;177;p5"/>
            <p:cNvSpPr/>
            <p:nvPr/>
          </p:nvSpPr>
          <p:spPr>
            <a:xfrm>
              <a:off x="0" y="0"/>
              <a:ext cx="1322448" cy="2709333"/>
            </a:xfrm>
            <a:custGeom>
              <a:rect b="b" l="l" r="r" t="t"/>
              <a:pathLst>
                <a:path extrusionOk="0" h="2709333" w="1322448">
                  <a:moveTo>
                    <a:pt x="0" y="0"/>
                  </a:moveTo>
                  <a:lnTo>
                    <a:pt x="1322448" y="0"/>
                  </a:lnTo>
                  <a:lnTo>
                    <a:pt x="1322448" y="2709333"/>
                  </a:lnTo>
                  <a:lnTo>
                    <a:pt x="0" y="2709333"/>
                  </a:lnTo>
                  <a:close/>
                </a:path>
              </a:pathLst>
            </a:custGeom>
            <a:solidFill>
              <a:srgbClr val="145DA0"/>
            </a:solidFill>
            <a:ln>
              <a:noFill/>
            </a:ln>
          </p:spPr>
        </p:sp>
        <p:sp>
          <p:nvSpPr>
            <p:cNvPr id="178" name="Google Shape;178;p5"/>
            <p:cNvSpPr txBox="1"/>
            <p:nvPr/>
          </p:nvSpPr>
          <p:spPr>
            <a:xfrm>
              <a:off x="0" y="-38100"/>
              <a:ext cx="1322448" cy="2747433"/>
            </a:xfrm>
            <a:prstGeom prst="rect">
              <a:avLst/>
            </a:prstGeom>
            <a:solidFill>
              <a:srgbClr val="145DA0"/>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9" name="Google Shape;179;p5"/>
          <p:cNvSpPr txBox="1"/>
          <p:nvPr/>
        </p:nvSpPr>
        <p:spPr>
          <a:xfrm>
            <a:off x="2422257" y="1089404"/>
            <a:ext cx="79224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Classification</a:t>
            </a:r>
            <a:endParaRPr/>
          </a:p>
        </p:txBody>
      </p:sp>
      <p:grpSp>
        <p:nvGrpSpPr>
          <p:cNvPr id="180" name="Google Shape;180;p5"/>
          <p:cNvGrpSpPr/>
          <p:nvPr/>
        </p:nvGrpSpPr>
        <p:grpSpPr>
          <a:xfrm>
            <a:off x="-1595820" y="-1782102"/>
            <a:ext cx="3564204" cy="3564204"/>
            <a:chOff x="0" y="0"/>
            <a:chExt cx="812800" cy="812800"/>
          </a:xfrm>
        </p:grpSpPr>
        <p:sp>
          <p:nvSpPr>
            <p:cNvPr id="181" name="Google Shape;181;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051D40">
                  <a:alpha val="15294"/>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3" name="Google Shape;183;p5"/>
          <p:cNvSpPr txBox="1"/>
          <p:nvPr/>
        </p:nvSpPr>
        <p:spPr>
          <a:xfrm>
            <a:off x="1487450" y="2356975"/>
            <a:ext cx="11115600" cy="70860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0"/>
              </a:spcBef>
              <a:spcAft>
                <a:spcPts val="0"/>
              </a:spcAft>
              <a:buNone/>
            </a:pPr>
            <a:r>
              <a:rPr lang="en-US" sz="2330">
                <a:solidFill>
                  <a:srgbClr val="051D40"/>
                </a:solidFill>
                <a:latin typeface="Poppins Medium"/>
                <a:ea typeface="Poppins Medium"/>
                <a:cs typeface="Poppins Medium"/>
                <a:sym typeface="Poppins Medium"/>
              </a:rPr>
              <a:t>Sequential CNN</a:t>
            </a:r>
            <a:endParaRPr sz="2330">
              <a:solidFill>
                <a:srgbClr val="051D40"/>
              </a:solidFill>
              <a:latin typeface="Poppins Medium"/>
              <a:ea typeface="Poppins Medium"/>
              <a:cs typeface="Poppins Medium"/>
              <a:sym typeface="Poppins Medium"/>
            </a:endParaRPr>
          </a:p>
          <a:p>
            <a:pPr indent="0" lvl="0" marL="0" marR="0" rtl="0" algn="l">
              <a:lnSpc>
                <a:spcPct val="115000"/>
              </a:lnSpc>
              <a:spcBef>
                <a:spcPts val="1000"/>
              </a:spcBef>
              <a:spcAft>
                <a:spcPts val="0"/>
              </a:spcAft>
              <a:buNone/>
            </a:pPr>
            <a:r>
              <a:rPr lang="en-US" sz="2330">
                <a:solidFill>
                  <a:srgbClr val="051D40"/>
                </a:solidFill>
                <a:latin typeface="Poppins"/>
                <a:ea typeface="Poppins"/>
                <a:cs typeface="Poppins"/>
                <a:sym typeface="Poppins"/>
              </a:rPr>
              <a:t>Classification is a fundamental task in machine learning and pattern recognition, wherein the goal is to categorize input data into predefined classes or categories based on their features or attributes. It involves training a model to learn the underlying patterns or relationships in the data and predict the correct class labels for new, unseen instances. </a:t>
            </a:r>
            <a:endParaRPr sz="2330">
              <a:solidFill>
                <a:srgbClr val="051D40"/>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330">
              <a:solidFill>
                <a:srgbClr val="051D4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Font typeface="Arial"/>
              <a:buNone/>
            </a:pPr>
            <a:r>
              <a:rPr lang="en-US" sz="2330">
                <a:solidFill>
                  <a:srgbClr val="051D40"/>
                </a:solidFill>
                <a:latin typeface="Poppins"/>
                <a:ea typeface="Poppins"/>
                <a:cs typeface="Poppins"/>
                <a:sym typeface="Poppins"/>
              </a:rPr>
              <a:t>In our work, we have developed a Sequential Convolutional Neural Network (CNN) model for the purpose of classification into three categories: Normal, Pre-cancer, and Oral cancer. CNNs are a type of deep learning architecture specifically designed for processing structured grid-like data, such as images. They consist of multiple layers, including convolutional layers, pooling layers, and fully connected layers, which enable hierarchical feature extraction and learning. The Sequential CNN model serves as the classification component of our system, responsible for predicting the class labels of oral images based on the features extracted from ResNet101.</a:t>
            </a:r>
            <a:endParaRPr sz="2330">
              <a:solidFill>
                <a:srgbClr val="051D40"/>
              </a:solidFill>
              <a:latin typeface="Poppins"/>
              <a:ea typeface="Poppins"/>
              <a:cs typeface="Poppins"/>
              <a:sym typeface="Poppins"/>
            </a:endParaRPr>
          </a:p>
        </p:txBody>
      </p:sp>
      <p:grpSp>
        <p:nvGrpSpPr>
          <p:cNvPr id="184" name="Google Shape;184;p5"/>
          <p:cNvGrpSpPr/>
          <p:nvPr/>
        </p:nvGrpSpPr>
        <p:grpSpPr>
          <a:xfrm>
            <a:off x="14700679" y="7074186"/>
            <a:ext cx="5946973" cy="5946973"/>
            <a:chOff x="0" y="0"/>
            <a:chExt cx="812800" cy="812800"/>
          </a:xfrm>
        </p:grpSpPr>
        <p:sp>
          <p:nvSpPr>
            <p:cNvPr id="185" name="Google Shape;185;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FFFFFF">
                  <a:alpha val="15294"/>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190" name="Shape 190"/>
        <p:cNvGrpSpPr/>
        <p:nvPr/>
      </p:nvGrpSpPr>
      <p:grpSpPr>
        <a:xfrm>
          <a:off x="0" y="0"/>
          <a:ext cx="0" cy="0"/>
          <a:chOff x="0" y="0"/>
          <a:chExt cx="0" cy="0"/>
        </a:xfrm>
      </p:grpSpPr>
      <p:grpSp>
        <p:nvGrpSpPr>
          <p:cNvPr id="191" name="Google Shape;191;p6"/>
          <p:cNvGrpSpPr/>
          <p:nvPr/>
        </p:nvGrpSpPr>
        <p:grpSpPr>
          <a:xfrm>
            <a:off x="-2123887" y="-2346523"/>
            <a:ext cx="4693046" cy="4693046"/>
            <a:chOff x="0" y="0"/>
            <a:chExt cx="812800" cy="812800"/>
          </a:xfrm>
        </p:grpSpPr>
        <p:sp>
          <p:nvSpPr>
            <p:cNvPr id="192" name="Google Shape;192;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FFFFFF">
                  <a:alpha val="15294"/>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4" name="Google Shape;194;p6"/>
          <p:cNvGrpSpPr/>
          <p:nvPr/>
        </p:nvGrpSpPr>
        <p:grpSpPr>
          <a:xfrm>
            <a:off x="15573718" y="7940477"/>
            <a:ext cx="4693046" cy="4693046"/>
            <a:chOff x="0" y="0"/>
            <a:chExt cx="812800" cy="812800"/>
          </a:xfrm>
        </p:grpSpPr>
        <p:sp>
          <p:nvSpPr>
            <p:cNvPr id="195" name="Google Shape;195;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FFFFFF">
                  <a:alpha val="15294"/>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7" name="Google Shape;197;p6"/>
          <p:cNvSpPr txBox="1"/>
          <p:nvPr/>
        </p:nvSpPr>
        <p:spPr>
          <a:xfrm>
            <a:off x="5417038" y="794226"/>
            <a:ext cx="7453800" cy="786300"/>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b="1" lang="en-US" sz="5108">
                <a:solidFill>
                  <a:srgbClr val="FDFDFD"/>
                </a:solidFill>
                <a:latin typeface="Open Sans ExtraBold"/>
                <a:ea typeface="Open Sans ExtraBold"/>
                <a:cs typeface="Open Sans ExtraBold"/>
                <a:sym typeface="Open Sans ExtraBold"/>
              </a:rPr>
              <a:t>System Architecture</a:t>
            </a:r>
            <a:endParaRPr/>
          </a:p>
        </p:txBody>
      </p:sp>
      <p:pic>
        <p:nvPicPr>
          <p:cNvPr id="198" name="Google Shape;198;p6"/>
          <p:cNvPicPr preferRelativeResize="0"/>
          <p:nvPr/>
        </p:nvPicPr>
        <p:blipFill>
          <a:blip r:embed="rId3">
            <a:alphaModFix/>
          </a:blip>
          <a:stretch>
            <a:fillRect/>
          </a:stretch>
        </p:blipFill>
        <p:spPr>
          <a:xfrm>
            <a:off x="4624000" y="2107075"/>
            <a:ext cx="9040000" cy="7495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202" name="Shape 202"/>
        <p:cNvGrpSpPr/>
        <p:nvPr/>
      </p:nvGrpSpPr>
      <p:grpSpPr>
        <a:xfrm>
          <a:off x="0" y="0"/>
          <a:ext cx="0" cy="0"/>
          <a:chOff x="0" y="0"/>
          <a:chExt cx="0" cy="0"/>
        </a:xfrm>
      </p:grpSpPr>
      <p:sp>
        <p:nvSpPr>
          <p:cNvPr id="203" name="Google Shape;203;p7"/>
          <p:cNvSpPr txBox="1"/>
          <p:nvPr/>
        </p:nvSpPr>
        <p:spPr>
          <a:xfrm>
            <a:off x="5956350" y="1764450"/>
            <a:ext cx="6375300" cy="1016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605">
                <a:solidFill>
                  <a:srgbClr val="FDFDFD"/>
                </a:solidFill>
                <a:latin typeface="Open Sans ExtraBold"/>
                <a:ea typeface="Open Sans ExtraBold"/>
                <a:cs typeface="Open Sans ExtraBold"/>
                <a:sym typeface="Open Sans ExtraBold"/>
              </a:rPr>
              <a:t>Dataset Used</a:t>
            </a:r>
            <a:endParaRPr/>
          </a:p>
        </p:txBody>
      </p:sp>
      <p:sp>
        <p:nvSpPr>
          <p:cNvPr id="204" name="Google Shape;204;p7"/>
          <p:cNvSpPr txBox="1"/>
          <p:nvPr/>
        </p:nvSpPr>
        <p:spPr>
          <a:xfrm>
            <a:off x="4187395" y="3402349"/>
            <a:ext cx="9913200" cy="854400"/>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lang="en-US" sz="2313">
                <a:solidFill>
                  <a:srgbClr val="FDFDFD"/>
                </a:solidFill>
                <a:latin typeface="Poppins"/>
                <a:ea typeface="Poppins"/>
                <a:cs typeface="Poppins"/>
                <a:sym typeface="Poppins"/>
              </a:rPr>
              <a:t>We have used data collected from Cochin Cancer </a:t>
            </a:r>
            <a:r>
              <a:rPr lang="en-US" sz="2313">
                <a:solidFill>
                  <a:srgbClr val="FDFDFD"/>
                </a:solidFill>
                <a:latin typeface="Poppins"/>
                <a:ea typeface="Poppins"/>
                <a:cs typeface="Poppins"/>
                <a:sym typeface="Poppins"/>
              </a:rPr>
              <a:t>Research</a:t>
            </a:r>
            <a:r>
              <a:rPr lang="en-US" sz="2313">
                <a:solidFill>
                  <a:srgbClr val="FDFDFD"/>
                </a:solidFill>
                <a:latin typeface="Poppins"/>
                <a:ea typeface="Poppins"/>
                <a:cs typeface="Poppins"/>
                <a:sym typeface="Poppins"/>
              </a:rPr>
              <a:t> Centre, which consists of 1406 images in total.</a:t>
            </a:r>
            <a:endParaRPr/>
          </a:p>
        </p:txBody>
      </p:sp>
      <p:sp>
        <p:nvSpPr>
          <p:cNvPr id="205" name="Google Shape;205;p7"/>
          <p:cNvSpPr/>
          <p:nvPr/>
        </p:nvSpPr>
        <p:spPr>
          <a:xfrm>
            <a:off x="1849788" y="4974871"/>
            <a:ext cx="14588430" cy="2291892"/>
          </a:xfrm>
          <a:custGeom>
            <a:rect b="b" l="l" r="r" t="t"/>
            <a:pathLst>
              <a:path extrusionOk="0" h="1340288" w="3841588">
                <a:moveTo>
                  <a:pt x="9023" y="0"/>
                </a:moveTo>
                <a:lnTo>
                  <a:pt x="3832565" y="0"/>
                </a:lnTo>
                <a:cubicBezTo>
                  <a:pt x="3837548" y="0"/>
                  <a:pt x="3841588" y="4040"/>
                  <a:pt x="3841588" y="9023"/>
                </a:cubicBezTo>
                <a:lnTo>
                  <a:pt x="3841588" y="1331265"/>
                </a:lnTo>
                <a:cubicBezTo>
                  <a:pt x="3841588" y="1336248"/>
                  <a:pt x="3837548" y="1340288"/>
                  <a:pt x="3832565" y="1340288"/>
                </a:cubicBezTo>
                <a:lnTo>
                  <a:pt x="9023" y="1340288"/>
                </a:lnTo>
                <a:cubicBezTo>
                  <a:pt x="4040" y="1340288"/>
                  <a:pt x="0" y="1336248"/>
                  <a:pt x="0" y="1331265"/>
                </a:cubicBezTo>
                <a:lnTo>
                  <a:pt x="0" y="9023"/>
                </a:lnTo>
                <a:cubicBezTo>
                  <a:pt x="0" y="4040"/>
                  <a:pt x="4040" y="0"/>
                  <a:pt x="9023" y="0"/>
                </a:cubicBezTo>
                <a:close/>
              </a:path>
            </a:pathLst>
          </a:custGeom>
          <a:solidFill>
            <a:srgbClr val="FDFD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6" name="Google Shape;206;p7"/>
          <p:cNvGrpSpPr/>
          <p:nvPr/>
        </p:nvGrpSpPr>
        <p:grpSpPr>
          <a:xfrm>
            <a:off x="15573718" y="7940477"/>
            <a:ext cx="4693046" cy="4693046"/>
            <a:chOff x="0" y="0"/>
            <a:chExt cx="812800" cy="812800"/>
          </a:xfrm>
        </p:grpSpPr>
        <p:sp>
          <p:nvSpPr>
            <p:cNvPr id="207" name="Google Shape;207;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FFFFFF">
                  <a:alpha val="15294"/>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09" name="Google Shape;209;p7"/>
          <p:cNvCxnSpPr/>
          <p:nvPr/>
        </p:nvCxnSpPr>
        <p:spPr>
          <a:xfrm>
            <a:off x="6702515" y="5296137"/>
            <a:ext cx="8400" cy="1626300"/>
          </a:xfrm>
          <a:prstGeom prst="straightConnector1">
            <a:avLst/>
          </a:prstGeom>
          <a:noFill/>
          <a:ln cap="flat" cmpd="sng" w="38100">
            <a:solidFill>
              <a:srgbClr val="145DA0"/>
            </a:solidFill>
            <a:prstDash val="solid"/>
            <a:round/>
            <a:headEnd len="sm" w="sm" type="none"/>
            <a:tailEnd len="sm" w="sm" type="none"/>
          </a:ln>
        </p:spPr>
      </p:cxnSp>
      <p:sp>
        <p:nvSpPr>
          <p:cNvPr id="210" name="Google Shape;210;p7"/>
          <p:cNvSpPr txBox="1"/>
          <p:nvPr/>
        </p:nvSpPr>
        <p:spPr>
          <a:xfrm>
            <a:off x="3133202" y="5423425"/>
            <a:ext cx="2973600" cy="41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685">
                <a:solidFill>
                  <a:srgbClr val="145DA0"/>
                </a:solidFill>
                <a:latin typeface="Open Sans ExtraBold"/>
                <a:ea typeface="Open Sans ExtraBold"/>
                <a:cs typeface="Open Sans ExtraBold"/>
                <a:sym typeface="Open Sans ExtraBold"/>
              </a:rPr>
              <a:t>Pre-cancerous</a:t>
            </a:r>
            <a:endParaRPr/>
          </a:p>
        </p:txBody>
      </p:sp>
      <p:sp>
        <p:nvSpPr>
          <p:cNvPr id="211" name="Google Shape;211;p7"/>
          <p:cNvSpPr txBox="1"/>
          <p:nvPr/>
        </p:nvSpPr>
        <p:spPr>
          <a:xfrm>
            <a:off x="7969810" y="5423414"/>
            <a:ext cx="2348400" cy="41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685">
                <a:solidFill>
                  <a:srgbClr val="145DA0"/>
                </a:solidFill>
                <a:latin typeface="Open Sans ExtraBold"/>
                <a:ea typeface="Open Sans ExtraBold"/>
                <a:cs typeface="Open Sans ExtraBold"/>
                <a:sym typeface="Open Sans ExtraBold"/>
              </a:rPr>
              <a:t>Normal</a:t>
            </a:r>
            <a:endParaRPr/>
          </a:p>
        </p:txBody>
      </p:sp>
      <p:sp>
        <p:nvSpPr>
          <p:cNvPr id="212" name="Google Shape;212;p7"/>
          <p:cNvSpPr txBox="1"/>
          <p:nvPr/>
        </p:nvSpPr>
        <p:spPr>
          <a:xfrm>
            <a:off x="12627450" y="5347225"/>
            <a:ext cx="2348400" cy="41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685">
                <a:solidFill>
                  <a:srgbClr val="145DA0"/>
                </a:solidFill>
                <a:latin typeface="Open Sans ExtraBold"/>
                <a:ea typeface="Open Sans ExtraBold"/>
                <a:cs typeface="Open Sans ExtraBold"/>
                <a:sym typeface="Open Sans ExtraBold"/>
              </a:rPr>
              <a:t>Cancer</a:t>
            </a:r>
            <a:endParaRPr/>
          </a:p>
        </p:txBody>
      </p:sp>
      <p:cxnSp>
        <p:nvCxnSpPr>
          <p:cNvPr id="213" name="Google Shape;213;p7"/>
          <p:cNvCxnSpPr/>
          <p:nvPr/>
        </p:nvCxnSpPr>
        <p:spPr>
          <a:xfrm>
            <a:off x="11469804" y="5296137"/>
            <a:ext cx="0" cy="1649400"/>
          </a:xfrm>
          <a:prstGeom prst="straightConnector1">
            <a:avLst/>
          </a:prstGeom>
          <a:noFill/>
          <a:ln cap="flat" cmpd="sng" w="38100">
            <a:solidFill>
              <a:srgbClr val="145DA0"/>
            </a:solidFill>
            <a:prstDash val="solid"/>
            <a:round/>
            <a:headEnd len="sm" w="sm" type="none"/>
            <a:tailEnd len="sm" w="sm" type="none"/>
          </a:ln>
        </p:spPr>
      </p:cxnSp>
      <p:sp>
        <p:nvSpPr>
          <p:cNvPr id="214" name="Google Shape;214;p7"/>
          <p:cNvSpPr txBox="1"/>
          <p:nvPr/>
        </p:nvSpPr>
        <p:spPr>
          <a:xfrm>
            <a:off x="4190250" y="6062850"/>
            <a:ext cx="1452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Poppins Medium"/>
                <a:ea typeface="Poppins Medium"/>
                <a:cs typeface="Poppins Medium"/>
                <a:sym typeface="Poppins Medium"/>
              </a:rPr>
              <a:t>509</a:t>
            </a:r>
            <a:endParaRPr sz="3200">
              <a:solidFill>
                <a:schemeClr val="dk1"/>
              </a:solidFill>
              <a:latin typeface="Poppins Medium"/>
              <a:ea typeface="Poppins Medium"/>
              <a:cs typeface="Poppins Medium"/>
              <a:sym typeface="Poppins Medium"/>
            </a:endParaRPr>
          </a:p>
        </p:txBody>
      </p:sp>
      <p:sp>
        <p:nvSpPr>
          <p:cNvPr id="215" name="Google Shape;215;p7"/>
          <p:cNvSpPr txBox="1"/>
          <p:nvPr/>
        </p:nvSpPr>
        <p:spPr>
          <a:xfrm>
            <a:off x="8708433" y="6062850"/>
            <a:ext cx="1452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Poppins Medium"/>
                <a:ea typeface="Poppins Medium"/>
                <a:cs typeface="Poppins Medium"/>
                <a:sym typeface="Poppins Medium"/>
              </a:rPr>
              <a:t>359</a:t>
            </a:r>
            <a:endParaRPr sz="3200">
              <a:solidFill>
                <a:schemeClr val="dk1"/>
              </a:solidFill>
              <a:latin typeface="Poppins Medium"/>
              <a:ea typeface="Poppins Medium"/>
              <a:cs typeface="Poppins Medium"/>
              <a:sym typeface="Poppins Medium"/>
            </a:endParaRPr>
          </a:p>
        </p:txBody>
      </p:sp>
      <p:sp>
        <p:nvSpPr>
          <p:cNvPr id="216" name="Google Shape;216;p7"/>
          <p:cNvSpPr txBox="1"/>
          <p:nvPr/>
        </p:nvSpPr>
        <p:spPr>
          <a:xfrm>
            <a:off x="13359975" y="6062850"/>
            <a:ext cx="1057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Poppins Medium"/>
                <a:ea typeface="Poppins Medium"/>
                <a:cs typeface="Poppins Medium"/>
                <a:sym typeface="Poppins Medium"/>
              </a:rPr>
              <a:t>538</a:t>
            </a:r>
            <a:endParaRPr sz="3200">
              <a:solidFill>
                <a:schemeClr val="dk1"/>
              </a:solidFill>
              <a:latin typeface="Poppins Medium"/>
              <a:ea typeface="Poppins Medium"/>
              <a:cs typeface="Poppins Medium"/>
              <a:sym typeface="Poppins Medium"/>
            </a:endParaRPr>
          </a:p>
        </p:txBody>
      </p:sp>
      <p:grpSp>
        <p:nvGrpSpPr>
          <p:cNvPr id="217" name="Google Shape;217;p7"/>
          <p:cNvGrpSpPr/>
          <p:nvPr/>
        </p:nvGrpSpPr>
        <p:grpSpPr>
          <a:xfrm>
            <a:off x="-3047057" y="-1691223"/>
            <a:ext cx="4693026" cy="4693026"/>
            <a:chOff x="0" y="0"/>
            <a:chExt cx="812800" cy="812800"/>
          </a:xfrm>
        </p:grpSpPr>
        <p:sp>
          <p:nvSpPr>
            <p:cNvPr id="218" name="Google Shape;218;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FFFFFF">
                  <a:alpha val="1529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23" name="Shape 223"/>
        <p:cNvGrpSpPr/>
        <p:nvPr/>
      </p:nvGrpSpPr>
      <p:grpSpPr>
        <a:xfrm>
          <a:off x="0" y="0"/>
          <a:ext cx="0" cy="0"/>
          <a:chOff x="0" y="0"/>
          <a:chExt cx="0" cy="0"/>
        </a:xfrm>
      </p:grpSpPr>
      <p:grpSp>
        <p:nvGrpSpPr>
          <p:cNvPr id="224" name="Google Shape;224;p8"/>
          <p:cNvGrpSpPr/>
          <p:nvPr/>
        </p:nvGrpSpPr>
        <p:grpSpPr>
          <a:xfrm>
            <a:off x="-6656283" y="-2445901"/>
            <a:ext cx="15178802" cy="15178802"/>
            <a:chOff x="0" y="0"/>
            <a:chExt cx="812800" cy="812800"/>
          </a:xfrm>
        </p:grpSpPr>
        <p:sp>
          <p:nvSpPr>
            <p:cNvPr id="225" name="Google Shape;225;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381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7" name="Google Shape;227;p8"/>
          <p:cNvGrpSpPr/>
          <p:nvPr/>
        </p:nvGrpSpPr>
        <p:grpSpPr>
          <a:xfrm>
            <a:off x="-6007842" y="-1797460"/>
            <a:ext cx="13881919" cy="13881919"/>
            <a:chOff x="0" y="0"/>
            <a:chExt cx="812800" cy="812800"/>
          </a:xfrm>
        </p:grpSpPr>
        <p:sp>
          <p:nvSpPr>
            <p:cNvPr id="228" name="Google Shape;228;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0" name="Google Shape;230;p8"/>
          <p:cNvSpPr txBox="1"/>
          <p:nvPr/>
        </p:nvSpPr>
        <p:spPr>
          <a:xfrm>
            <a:off x="1028700" y="4783362"/>
            <a:ext cx="6033300" cy="72030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lang="en-US" sz="4680">
                <a:solidFill>
                  <a:srgbClr val="FDFDFD"/>
                </a:solidFill>
                <a:latin typeface="Open Sans ExtraBold"/>
                <a:ea typeface="Open Sans ExtraBold"/>
                <a:cs typeface="Open Sans ExtraBold"/>
                <a:sym typeface="Open Sans ExtraBold"/>
              </a:rPr>
              <a:t>Data Preprocessing</a:t>
            </a:r>
            <a:endParaRPr/>
          </a:p>
        </p:txBody>
      </p:sp>
      <p:sp>
        <p:nvSpPr>
          <p:cNvPr id="231" name="Google Shape;231;p8"/>
          <p:cNvSpPr/>
          <p:nvPr/>
        </p:nvSpPr>
        <p:spPr>
          <a:xfrm>
            <a:off x="8618101" y="1767991"/>
            <a:ext cx="1424256" cy="1424256"/>
          </a:xfrm>
          <a:custGeom>
            <a:rect b="b" l="l" r="r" t="t"/>
            <a:pathLst>
              <a:path extrusionOk="0" h="1424256" w="1424256">
                <a:moveTo>
                  <a:pt x="0" y="0"/>
                </a:moveTo>
                <a:lnTo>
                  <a:pt x="1424255" y="0"/>
                </a:lnTo>
                <a:lnTo>
                  <a:pt x="1424255" y="1424256"/>
                </a:lnTo>
                <a:lnTo>
                  <a:pt x="0" y="1424256"/>
                </a:lnTo>
                <a:lnTo>
                  <a:pt x="0" y="0"/>
                </a:lnTo>
                <a:close/>
              </a:path>
            </a:pathLst>
          </a:custGeom>
          <a:blipFill rotWithShape="1">
            <a:blip r:embed="rId3">
              <a:alphaModFix/>
            </a:blip>
            <a:stretch>
              <a:fillRect b="0" l="0" r="0" t="0"/>
            </a:stretch>
          </a:blipFill>
          <a:ln>
            <a:noFill/>
          </a:ln>
        </p:spPr>
      </p:sp>
      <p:sp>
        <p:nvSpPr>
          <p:cNvPr id="232" name="Google Shape;232;p8"/>
          <p:cNvSpPr txBox="1"/>
          <p:nvPr/>
        </p:nvSpPr>
        <p:spPr>
          <a:xfrm>
            <a:off x="10381350" y="1825675"/>
            <a:ext cx="7601100" cy="965100"/>
          </a:xfrm>
          <a:prstGeom prst="rect">
            <a:avLst/>
          </a:prstGeom>
          <a:noFill/>
          <a:ln>
            <a:noFill/>
          </a:ln>
        </p:spPr>
        <p:txBody>
          <a:bodyPr anchorCtr="0" anchor="t" bIns="0" lIns="0" spcFirstLastPara="1" rIns="0" wrap="square" tIns="0">
            <a:spAutoFit/>
          </a:bodyPr>
          <a:lstStyle/>
          <a:p>
            <a:pPr indent="0" lvl="0" marL="0" rtl="0" algn="l">
              <a:lnSpc>
                <a:spcPct val="140011"/>
              </a:lnSpc>
              <a:spcBef>
                <a:spcPts val="0"/>
              </a:spcBef>
              <a:spcAft>
                <a:spcPts val="0"/>
              </a:spcAft>
              <a:buClr>
                <a:schemeClr val="dk1"/>
              </a:buClr>
              <a:buSzPts val="1100"/>
              <a:buFont typeface="Arial"/>
              <a:buNone/>
            </a:pPr>
            <a:r>
              <a:rPr b="1" lang="en-US" sz="1650">
                <a:solidFill>
                  <a:srgbClr val="145DA0"/>
                </a:solidFill>
                <a:latin typeface="Poppins"/>
                <a:ea typeface="Poppins"/>
                <a:cs typeface="Poppins"/>
                <a:sym typeface="Poppins"/>
              </a:rPr>
              <a:t>Manual Cropping </a:t>
            </a:r>
            <a:endParaRPr b="1" sz="1650">
              <a:solidFill>
                <a:srgbClr val="145DA0"/>
              </a:solidFill>
              <a:latin typeface="Poppins"/>
              <a:ea typeface="Poppins"/>
              <a:cs typeface="Poppins"/>
              <a:sym typeface="Poppins"/>
            </a:endParaRPr>
          </a:p>
          <a:p>
            <a:pPr indent="0" lvl="0" marL="0" rtl="0" algn="l">
              <a:lnSpc>
                <a:spcPct val="140011"/>
              </a:lnSpc>
              <a:spcBef>
                <a:spcPts val="0"/>
              </a:spcBef>
              <a:spcAft>
                <a:spcPts val="0"/>
              </a:spcAft>
              <a:buSzPts val="1100"/>
              <a:buNone/>
            </a:pPr>
            <a:r>
              <a:rPr lang="en-US" sz="1650">
                <a:solidFill>
                  <a:srgbClr val="145DA0"/>
                </a:solidFill>
                <a:latin typeface="Poppins"/>
                <a:ea typeface="Poppins"/>
                <a:cs typeface="Poppins"/>
                <a:sym typeface="Poppins"/>
              </a:rPr>
              <a:t>Texts and other unwanted regions in the images were cropped manually to focus solely on the oral lesions of interest. </a:t>
            </a:r>
            <a:endParaRPr sz="1650">
              <a:solidFill>
                <a:srgbClr val="145DA0"/>
              </a:solidFill>
              <a:latin typeface="Poppins"/>
              <a:ea typeface="Poppins"/>
              <a:cs typeface="Poppins"/>
              <a:sym typeface="Poppins"/>
            </a:endParaRPr>
          </a:p>
        </p:txBody>
      </p:sp>
      <p:sp>
        <p:nvSpPr>
          <p:cNvPr id="233" name="Google Shape;233;p8"/>
          <p:cNvSpPr txBox="1"/>
          <p:nvPr/>
        </p:nvSpPr>
        <p:spPr>
          <a:xfrm>
            <a:off x="8763159" y="2041203"/>
            <a:ext cx="1134140" cy="801632"/>
          </a:xfrm>
          <a:prstGeom prst="rect">
            <a:avLst/>
          </a:prstGeom>
          <a:noFill/>
          <a:ln>
            <a:noFill/>
          </a:ln>
        </p:spPr>
        <p:txBody>
          <a:bodyPr anchorCtr="0" anchor="t" bIns="0" lIns="0" spcFirstLastPara="1" rIns="0" wrap="square" tIns="0">
            <a:spAutoFit/>
          </a:bodyPr>
          <a:lstStyle/>
          <a:p>
            <a:pPr indent="0" lvl="0" marL="0" marR="0" rtl="0" algn="ctr">
              <a:lnSpc>
                <a:spcPct val="139987"/>
              </a:lnSpc>
              <a:spcBef>
                <a:spcPts val="0"/>
              </a:spcBef>
              <a:spcAft>
                <a:spcPts val="0"/>
              </a:spcAft>
              <a:buNone/>
            </a:pPr>
            <a:r>
              <a:rPr b="1" i="0" lang="en-US" sz="4784" u="none" cap="none" strike="noStrike">
                <a:solidFill>
                  <a:srgbClr val="FDFDFD"/>
                </a:solidFill>
                <a:latin typeface="Open Sans ExtraBold"/>
                <a:ea typeface="Open Sans ExtraBold"/>
                <a:cs typeface="Open Sans ExtraBold"/>
                <a:sym typeface="Open Sans ExtraBold"/>
              </a:rPr>
              <a:t>01</a:t>
            </a:r>
            <a:endParaRPr/>
          </a:p>
        </p:txBody>
      </p:sp>
      <p:sp>
        <p:nvSpPr>
          <p:cNvPr id="234" name="Google Shape;234;p8"/>
          <p:cNvSpPr/>
          <p:nvPr/>
        </p:nvSpPr>
        <p:spPr>
          <a:xfrm>
            <a:off x="9144000" y="3541391"/>
            <a:ext cx="1424256" cy="1424256"/>
          </a:xfrm>
          <a:custGeom>
            <a:rect b="b" l="l" r="r" t="t"/>
            <a:pathLst>
              <a:path extrusionOk="0" h="1424256" w="1424256">
                <a:moveTo>
                  <a:pt x="0" y="0"/>
                </a:moveTo>
                <a:lnTo>
                  <a:pt x="1424256" y="0"/>
                </a:lnTo>
                <a:lnTo>
                  <a:pt x="1424256" y="1424256"/>
                </a:lnTo>
                <a:lnTo>
                  <a:pt x="0" y="1424256"/>
                </a:lnTo>
                <a:lnTo>
                  <a:pt x="0" y="0"/>
                </a:lnTo>
                <a:close/>
              </a:path>
            </a:pathLst>
          </a:custGeom>
          <a:blipFill rotWithShape="1">
            <a:blip r:embed="rId3">
              <a:alphaModFix/>
            </a:blip>
            <a:stretch>
              <a:fillRect b="0" l="0" r="0" t="0"/>
            </a:stretch>
          </a:blipFill>
          <a:ln>
            <a:noFill/>
          </a:ln>
        </p:spPr>
      </p:sp>
      <p:sp>
        <p:nvSpPr>
          <p:cNvPr id="235" name="Google Shape;235;p8"/>
          <p:cNvSpPr txBox="1"/>
          <p:nvPr/>
        </p:nvSpPr>
        <p:spPr>
          <a:xfrm>
            <a:off x="10872450" y="3208575"/>
            <a:ext cx="6923100" cy="2071200"/>
          </a:xfrm>
          <a:prstGeom prst="rect">
            <a:avLst/>
          </a:prstGeom>
          <a:noFill/>
          <a:ln>
            <a:noFill/>
          </a:ln>
        </p:spPr>
        <p:txBody>
          <a:bodyPr anchorCtr="0" anchor="t" bIns="0" lIns="0" spcFirstLastPara="1" rIns="0" wrap="square" tIns="0">
            <a:spAutoFit/>
          </a:bodyPr>
          <a:lstStyle/>
          <a:p>
            <a:pPr indent="0" lvl="0" marL="0" rtl="0" algn="just">
              <a:lnSpc>
                <a:spcPct val="140011"/>
              </a:lnSpc>
              <a:spcBef>
                <a:spcPts val="0"/>
              </a:spcBef>
              <a:spcAft>
                <a:spcPts val="0"/>
              </a:spcAft>
              <a:buClr>
                <a:schemeClr val="dk1"/>
              </a:buClr>
              <a:buSzPts val="1100"/>
              <a:buFont typeface="Arial"/>
              <a:buNone/>
            </a:pPr>
            <a:r>
              <a:rPr b="1" lang="en-US" sz="1682">
                <a:solidFill>
                  <a:srgbClr val="145DA0"/>
                </a:solidFill>
                <a:latin typeface="Poppins"/>
                <a:ea typeface="Poppins"/>
                <a:cs typeface="Poppins"/>
                <a:sym typeface="Poppins"/>
              </a:rPr>
              <a:t>Resizing</a:t>
            </a:r>
            <a:endParaRPr b="1" sz="1682">
              <a:solidFill>
                <a:srgbClr val="145DA0"/>
              </a:solidFill>
              <a:latin typeface="Poppins"/>
              <a:ea typeface="Poppins"/>
              <a:cs typeface="Poppins"/>
              <a:sym typeface="Poppins"/>
            </a:endParaRPr>
          </a:p>
          <a:p>
            <a:pPr indent="0" lvl="0" marL="0" rtl="0" algn="l">
              <a:lnSpc>
                <a:spcPct val="140011"/>
              </a:lnSpc>
              <a:spcBef>
                <a:spcPts val="0"/>
              </a:spcBef>
              <a:spcAft>
                <a:spcPts val="0"/>
              </a:spcAft>
              <a:buClr>
                <a:schemeClr val="dk1"/>
              </a:buClr>
              <a:buSzPts val="1100"/>
              <a:buFont typeface="Arial"/>
              <a:buNone/>
            </a:pPr>
            <a:r>
              <a:rPr lang="en-US" sz="1682">
                <a:solidFill>
                  <a:srgbClr val="145DA0"/>
                </a:solidFill>
                <a:latin typeface="Poppins"/>
                <a:ea typeface="Poppins"/>
                <a:cs typeface="Poppins"/>
                <a:sym typeface="Poppins"/>
              </a:rPr>
              <a:t>All images were resized to a standardized dimension of 224x224 pixels. This resizing operation maintained consistency across the dataset and reduced computational complexity during model training.</a:t>
            </a:r>
            <a:endParaRPr sz="1682">
              <a:solidFill>
                <a:srgbClr val="145DA0"/>
              </a:solidFill>
              <a:latin typeface="Poppins"/>
              <a:ea typeface="Poppins"/>
              <a:cs typeface="Poppins"/>
              <a:sym typeface="Poppins"/>
            </a:endParaRPr>
          </a:p>
          <a:p>
            <a:pPr indent="0" lvl="0" marL="0" marR="0" rtl="0" algn="just">
              <a:lnSpc>
                <a:spcPct val="140011"/>
              </a:lnSpc>
              <a:spcBef>
                <a:spcPts val="0"/>
              </a:spcBef>
              <a:spcAft>
                <a:spcPts val="0"/>
              </a:spcAft>
              <a:buNone/>
            </a:pPr>
            <a:r>
              <a:t/>
            </a:r>
            <a:endParaRPr sz="1682">
              <a:solidFill>
                <a:srgbClr val="145DA0"/>
              </a:solidFill>
              <a:latin typeface="Poppins"/>
              <a:ea typeface="Poppins"/>
              <a:cs typeface="Poppins"/>
              <a:sym typeface="Poppins"/>
            </a:endParaRPr>
          </a:p>
        </p:txBody>
      </p:sp>
      <p:sp>
        <p:nvSpPr>
          <p:cNvPr id="236" name="Google Shape;236;p8"/>
          <p:cNvSpPr txBox="1"/>
          <p:nvPr/>
        </p:nvSpPr>
        <p:spPr>
          <a:xfrm>
            <a:off x="9289058" y="3814603"/>
            <a:ext cx="1134140" cy="801632"/>
          </a:xfrm>
          <a:prstGeom prst="rect">
            <a:avLst/>
          </a:prstGeom>
          <a:noFill/>
          <a:ln>
            <a:noFill/>
          </a:ln>
        </p:spPr>
        <p:txBody>
          <a:bodyPr anchorCtr="0" anchor="t" bIns="0" lIns="0" spcFirstLastPara="1" rIns="0" wrap="square" tIns="0">
            <a:spAutoFit/>
          </a:bodyPr>
          <a:lstStyle/>
          <a:p>
            <a:pPr indent="0" lvl="0" marL="0" marR="0" rtl="0" algn="ctr">
              <a:lnSpc>
                <a:spcPct val="139987"/>
              </a:lnSpc>
              <a:spcBef>
                <a:spcPts val="0"/>
              </a:spcBef>
              <a:spcAft>
                <a:spcPts val="0"/>
              </a:spcAft>
              <a:buNone/>
            </a:pPr>
            <a:r>
              <a:rPr b="1" i="0" lang="en-US" sz="4784" u="none" cap="none" strike="noStrike">
                <a:solidFill>
                  <a:srgbClr val="FDFDFD"/>
                </a:solidFill>
                <a:latin typeface="Open Sans ExtraBold"/>
                <a:ea typeface="Open Sans ExtraBold"/>
                <a:cs typeface="Open Sans ExtraBold"/>
                <a:sym typeface="Open Sans ExtraBold"/>
              </a:rPr>
              <a:t>02</a:t>
            </a:r>
            <a:endParaRPr/>
          </a:p>
        </p:txBody>
      </p:sp>
      <p:sp>
        <p:nvSpPr>
          <p:cNvPr id="237" name="Google Shape;237;p8"/>
          <p:cNvSpPr/>
          <p:nvPr/>
        </p:nvSpPr>
        <p:spPr>
          <a:xfrm>
            <a:off x="9144000" y="5318072"/>
            <a:ext cx="1424256" cy="1424256"/>
          </a:xfrm>
          <a:custGeom>
            <a:rect b="b" l="l" r="r" t="t"/>
            <a:pathLst>
              <a:path extrusionOk="0" h="1424256" w="1424256">
                <a:moveTo>
                  <a:pt x="0" y="0"/>
                </a:moveTo>
                <a:lnTo>
                  <a:pt x="1424256" y="0"/>
                </a:lnTo>
                <a:lnTo>
                  <a:pt x="1424256" y="1424256"/>
                </a:lnTo>
                <a:lnTo>
                  <a:pt x="0" y="1424256"/>
                </a:lnTo>
                <a:lnTo>
                  <a:pt x="0" y="0"/>
                </a:lnTo>
                <a:close/>
              </a:path>
            </a:pathLst>
          </a:custGeom>
          <a:blipFill rotWithShape="1">
            <a:blip r:embed="rId3">
              <a:alphaModFix/>
            </a:blip>
            <a:stretch>
              <a:fillRect b="0" l="0" r="0" t="0"/>
            </a:stretch>
          </a:blipFill>
          <a:ln>
            <a:noFill/>
          </a:ln>
        </p:spPr>
      </p:sp>
      <p:sp>
        <p:nvSpPr>
          <p:cNvPr id="238" name="Google Shape;238;p8"/>
          <p:cNvSpPr txBox="1"/>
          <p:nvPr/>
        </p:nvSpPr>
        <p:spPr>
          <a:xfrm>
            <a:off x="10872450" y="5375750"/>
            <a:ext cx="7085400" cy="1676400"/>
          </a:xfrm>
          <a:prstGeom prst="rect">
            <a:avLst/>
          </a:prstGeom>
          <a:noFill/>
          <a:ln>
            <a:noFill/>
          </a:ln>
        </p:spPr>
        <p:txBody>
          <a:bodyPr anchorCtr="0" anchor="t" bIns="0" lIns="0" spcFirstLastPara="1" rIns="0" wrap="square" tIns="0">
            <a:spAutoFit/>
          </a:bodyPr>
          <a:lstStyle/>
          <a:p>
            <a:pPr indent="0" lvl="0" marL="0" rtl="0" algn="l">
              <a:lnSpc>
                <a:spcPct val="140011"/>
              </a:lnSpc>
              <a:spcBef>
                <a:spcPts val="0"/>
              </a:spcBef>
              <a:spcAft>
                <a:spcPts val="0"/>
              </a:spcAft>
              <a:buClr>
                <a:schemeClr val="dk1"/>
              </a:buClr>
              <a:buSzPts val="1100"/>
              <a:buFont typeface="Arial"/>
              <a:buNone/>
            </a:pPr>
            <a:r>
              <a:rPr b="1" lang="en-US" sz="1650">
                <a:solidFill>
                  <a:srgbClr val="145DA0"/>
                </a:solidFill>
                <a:latin typeface="Poppins"/>
                <a:ea typeface="Poppins"/>
                <a:cs typeface="Poppins"/>
                <a:sym typeface="Poppins"/>
              </a:rPr>
              <a:t>Contrast Enhancement</a:t>
            </a:r>
            <a:endParaRPr b="1" sz="1650">
              <a:solidFill>
                <a:srgbClr val="145DA0"/>
              </a:solidFill>
              <a:latin typeface="Poppins"/>
              <a:ea typeface="Poppins"/>
              <a:cs typeface="Poppins"/>
              <a:sym typeface="Poppins"/>
            </a:endParaRPr>
          </a:p>
          <a:p>
            <a:pPr indent="0" lvl="0" marL="0" rtl="0" algn="l">
              <a:lnSpc>
                <a:spcPct val="140011"/>
              </a:lnSpc>
              <a:spcBef>
                <a:spcPts val="0"/>
              </a:spcBef>
              <a:spcAft>
                <a:spcPts val="0"/>
              </a:spcAft>
              <a:buSzPts val="1100"/>
              <a:buNone/>
            </a:pPr>
            <a:r>
              <a:rPr lang="en-US" sz="1650">
                <a:solidFill>
                  <a:srgbClr val="145DA0"/>
                </a:solidFill>
                <a:latin typeface="Poppins"/>
                <a:ea typeface="Poppins"/>
                <a:cs typeface="Poppins"/>
                <a:sym typeface="Poppins"/>
              </a:rPr>
              <a:t>The Recursive Mean-Separate Histogram Equalization (RMSHE) technique was applied to enhance the contrast of images to  highlight essential areas within the images, improving visual clarity and feature extraction.</a:t>
            </a:r>
            <a:endParaRPr sz="1650">
              <a:solidFill>
                <a:srgbClr val="145DA0"/>
              </a:solidFill>
              <a:latin typeface="Poppins"/>
              <a:ea typeface="Poppins"/>
              <a:cs typeface="Poppins"/>
              <a:sym typeface="Poppins"/>
            </a:endParaRPr>
          </a:p>
        </p:txBody>
      </p:sp>
      <p:sp>
        <p:nvSpPr>
          <p:cNvPr id="239" name="Google Shape;239;p8"/>
          <p:cNvSpPr txBox="1"/>
          <p:nvPr/>
        </p:nvSpPr>
        <p:spPr>
          <a:xfrm>
            <a:off x="9289058" y="5591284"/>
            <a:ext cx="1134140" cy="801632"/>
          </a:xfrm>
          <a:prstGeom prst="rect">
            <a:avLst/>
          </a:prstGeom>
          <a:noFill/>
          <a:ln>
            <a:noFill/>
          </a:ln>
        </p:spPr>
        <p:txBody>
          <a:bodyPr anchorCtr="0" anchor="t" bIns="0" lIns="0" spcFirstLastPara="1" rIns="0" wrap="square" tIns="0">
            <a:spAutoFit/>
          </a:bodyPr>
          <a:lstStyle/>
          <a:p>
            <a:pPr indent="0" lvl="0" marL="0" marR="0" rtl="0" algn="ctr">
              <a:lnSpc>
                <a:spcPct val="139987"/>
              </a:lnSpc>
              <a:spcBef>
                <a:spcPts val="0"/>
              </a:spcBef>
              <a:spcAft>
                <a:spcPts val="0"/>
              </a:spcAft>
              <a:buNone/>
            </a:pPr>
            <a:r>
              <a:rPr b="1" i="0" lang="en-US" sz="4784" u="none" cap="none" strike="noStrike">
                <a:solidFill>
                  <a:srgbClr val="FDFDFD"/>
                </a:solidFill>
                <a:latin typeface="Open Sans ExtraBold"/>
                <a:ea typeface="Open Sans ExtraBold"/>
                <a:cs typeface="Open Sans ExtraBold"/>
                <a:sym typeface="Open Sans ExtraBold"/>
              </a:rPr>
              <a:t>03</a:t>
            </a:r>
            <a:endParaRPr/>
          </a:p>
        </p:txBody>
      </p:sp>
      <p:sp>
        <p:nvSpPr>
          <p:cNvPr id="240" name="Google Shape;240;p8"/>
          <p:cNvSpPr/>
          <p:nvPr/>
        </p:nvSpPr>
        <p:spPr>
          <a:xfrm>
            <a:off x="8618101" y="7094753"/>
            <a:ext cx="1424256" cy="1424256"/>
          </a:xfrm>
          <a:custGeom>
            <a:rect b="b" l="l" r="r" t="t"/>
            <a:pathLst>
              <a:path extrusionOk="0" h="1424256" w="1424256">
                <a:moveTo>
                  <a:pt x="0" y="0"/>
                </a:moveTo>
                <a:lnTo>
                  <a:pt x="1424255" y="0"/>
                </a:lnTo>
                <a:lnTo>
                  <a:pt x="1424255" y="1424256"/>
                </a:lnTo>
                <a:lnTo>
                  <a:pt x="0" y="1424256"/>
                </a:lnTo>
                <a:lnTo>
                  <a:pt x="0" y="0"/>
                </a:lnTo>
                <a:close/>
              </a:path>
            </a:pathLst>
          </a:custGeom>
          <a:blipFill rotWithShape="1">
            <a:blip r:embed="rId3">
              <a:alphaModFix/>
            </a:blip>
            <a:stretch>
              <a:fillRect b="0" l="0" r="0" t="0"/>
            </a:stretch>
          </a:blipFill>
          <a:ln>
            <a:noFill/>
          </a:ln>
        </p:spPr>
      </p:sp>
      <p:sp>
        <p:nvSpPr>
          <p:cNvPr id="241" name="Google Shape;241;p8"/>
          <p:cNvSpPr txBox="1"/>
          <p:nvPr/>
        </p:nvSpPr>
        <p:spPr>
          <a:xfrm>
            <a:off x="10356625" y="7444175"/>
            <a:ext cx="6788400" cy="2179200"/>
          </a:xfrm>
          <a:prstGeom prst="rect">
            <a:avLst/>
          </a:prstGeom>
          <a:noFill/>
          <a:ln>
            <a:noFill/>
          </a:ln>
        </p:spPr>
        <p:txBody>
          <a:bodyPr anchorCtr="0" anchor="t" bIns="0" lIns="0" spcFirstLastPara="1" rIns="0" wrap="square" tIns="0">
            <a:spAutoFit/>
          </a:bodyPr>
          <a:lstStyle/>
          <a:p>
            <a:pPr indent="0" lvl="0" marL="0" rtl="0" algn="just">
              <a:lnSpc>
                <a:spcPct val="140011"/>
              </a:lnSpc>
              <a:spcBef>
                <a:spcPts val="0"/>
              </a:spcBef>
              <a:spcAft>
                <a:spcPts val="0"/>
              </a:spcAft>
              <a:buClr>
                <a:schemeClr val="dk1"/>
              </a:buClr>
              <a:buSzPts val="1100"/>
              <a:buFont typeface="Arial"/>
              <a:buNone/>
            </a:pPr>
            <a:r>
              <a:rPr b="1" lang="en-US" sz="1782">
                <a:solidFill>
                  <a:srgbClr val="145DA0"/>
                </a:solidFill>
                <a:latin typeface="Poppins"/>
                <a:ea typeface="Poppins"/>
                <a:cs typeface="Poppins"/>
                <a:sym typeface="Poppins"/>
              </a:rPr>
              <a:t>Augmentation</a:t>
            </a:r>
            <a:endParaRPr b="1" sz="1782">
              <a:solidFill>
                <a:srgbClr val="145DA0"/>
              </a:solidFill>
              <a:latin typeface="Poppins"/>
              <a:ea typeface="Poppins"/>
              <a:cs typeface="Poppins"/>
              <a:sym typeface="Poppins"/>
            </a:endParaRPr>
          </a:p>
          <a:p>
            <a:pPr indent="0" lvl="0" marL="0" rtl="0" algn="l">
              <a:lnSpc>
                <a:spcPct val="140011"/>
              </a:lnSpc>
              <a:spcBef>
                <a:spcPts val="0"/>
              </a:spcBef>
              <a:spcAft>
                <a:spcPts val="0"/>
              </a:spcAft>
              <a:buClr>
                <a:schemeClr val="dk1"/>
              </a:buClr>
              <a:buSzPts val="1100"/>
              <a:buFont typeface="Arial"/>
              <a:buNone/>
            </a:pPr>
            <a:r>
              <a:rPr lang="en-US" sz="1782">
                <a:solidFill>
                  <a:srgbClr val="145DA0"/>
                </a:solidFill>
                <a:latin typeface="Poppins"/>
                <a:ea typeface="Poppins"/>
                <a:cs typeface="Poppins"/>
                <a:sym typeface="Poppins"/>
              </a:rPr>
              <a:t>To augment the dataset and increase variability, a series of transformations such as rotation, flipping, and scaling were applied to the images.</a:t>
            </a:r>
            <a:endParaRPr sz="1782">
              <a:solidFill>
                <a:srgbClr val="145DA0"/>
              </a:solidFill>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782">
              <a:solidFill>
                <a:srgbClr val="145DA0"/>
              </a:solidFill>
              <a:latin typeface="Poppins"/>
              <a:ea typeface="Poppins"/>
              <a:cs typeface="Poppins"/>
              <a:sym typeface="Poppins"/>
            </a:endParaRPr>
          </a:p>
          <a:p>
            <a:pPr indent="0" lvl="0" marL="0" marR="0" rtl="0" algn="just">
              <a:lnSpc>
                <a:spcPct val="140011"/>
              </a:lnSpc>
              <a:spcBef>
                <a:spcPts val="0"/>
              </a:spcBef>
              <a:spcAft>
                <a:spcPts val="0"/>
              </a:spcAft>
              <a:buClr>
                <a:srgbClr val="000000"/>
              </a:buClr>
              <a:buFont typeface="Arial"/>
              <a:buNone/>
            </a:pPr>
            <a:r>
              <a:t/>
            </a:r>
            <a:endParaRPr sz="1682">
              <a:solidFill>
                <a:srgbClr val="145DA0"/>
              </a:solidFill>
              <a:latin typeface="Poppins"/>
              <a:ea typeface="Poppins"/>
              <a:cs typeface="Poppins"/>
              <a:sym typeface="Poppins"/>
            </a:endParaRPr>
          </a:p>
        </p:txBody>
      </p:sp>
      <p:sp>
        <p:nvSpPr>
          <p:cNvPr id="242" name="Google Shape;242;p8"/>
          <p:cNvSpPr txBox="1"/>
          <p:nvPr/>
        </p:nvSpPr>
        <p:spPr>
          <a:xfrm>
            <a:off x="8763159" y="7367965"/>
            <a:ext cx="1134140" cy="801632"/>
          </a:xfrm>
          <a:prstGeom prst="rect">
            <a:avLst/>
          </a:prstGeom>
          <a:noFill/>
          <a:ln>
            <a:noFill/>
          </a:ln>
        </p:spPr>
        <p:txBody>
          <a:bodyPr anchorCtr="0" anchor="t" bIns="0" lIns="0" spcFirstLastPara="1" rIns="0" wrap="square" tIns="0">
            <a:spAutoFit/>
          </a:bodyPr>
          <a:lstStyle/>
          <a:p>
            <a:pPr indent="0" lvl="0" marL="0" marR="0" rtl="0" algn="ctr">
              <a:lnSpc>
                <a:spcPct val="139987"/>
              </a:lnSpc>
              <a:spcBef>
                <a:spcPts val="0"/>
              </a:spcBef>
              <a:spcAft>
                <a:spcPts val="0"/>
              </a:spcAft>
              <a:buNone/>
            </a:pPr>
            <a:r>
              <a:rPr b="1" i="0" lang="en-US" sz="4784" u="none" cap="none" strike="noStrike">
                <a:solidFill>
                  <a:srgbClr val="FDFDFD"/>
                </a:solidFill>
                <a:latin typeface="Open Sans ExtraBold"/>
                <a:ea typeface="Open Sans ExtraBold"/>
                <a:cs typeface="Open Sans ExtraBold"/>
                <a:sym typeface="Open Sans ExtraBold"/>
              </a:rPr>
              <a:t>04</a:t>
            </a:r>
            <a:endParaRPr/>
          </a:p>
        </p:txBody>
      </p:sp>
      <p:grpSp>
        <p:nvGrpSpPr>
          <p:cNvPr id="243" name="Google Shape;243;p8"/>
          <p:cNvGrpSpPr/>
          <p:nvPr/>
        </p:nvGrpSpPr>
        <p:grpSpPr>
          <a:xfrm>
            <a:off x="7905455" y="2656032"/>
            <a:ext cx="373607" cy="373607"/>
            <a:chOff x="0" y="0"/>
            <a:chExt cx="812800" cy="812800"/>
          </a:xfrm>
        </p:grpSpPr>
        <p:sp>
          <p:nvSpPr>
            <p:cNvPr id="244" name="Google Shape;244;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cap="sq" cmpd="sng" w="38100">
              <a:solidFill>
                <a:srgbClr val="00569E"/>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txBox="1"/>
            <p:nvPr/>
          </p:nvSpPr>
          <p:spPr>
            <a:xfrm>
              <a:off x="76200" y="28575"/>
              <a:ext cx="660400" cy="708025"/>
            </a:xfrm>
            <a:prstGeom prst="rect">
              <a:avLst/>
            </a:prstGeom>
            <a:noFill/>
            <a:ln>
              <a:noFill/>
            </a:ln>
          </p:spPr>
          <p:txBody>
            <a:bodyPr anchorCtr="0" anchor="ctr" bIns="0" lIns="0" spcFirstLastPara="1" rIns="0" wrap="square" tIns="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6" name="Google Shape;246;p8"/>
          <p:cNvGrpSpPr/>
          <p:nvPr/>
        </p:nvGrpSpPr>
        <p:grpSpPr>
          <a:xfrm>
            <a:off x="8315313" y="4180490"/>
            <a:ext cx="373607" cy="373607"/>
            <a:chOff x="0" y="0"/>
            <a:chExt cx="812800" cy="812800"/>
          </a:xfrm>
        </p:grpSpPr>
        <p:sp>
          <p:nvSpPr>
            <p:cNvPr id="247" name="Google Shape;247;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cap="sq" cmpd="sng" w="38100">
              <a:solidFill>
                <a:srgbClr val="00569E"/>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txBox="1"/>
            <p:nvPr/>
          </p:nvSpPr>
          <p:spPr>
            <a:xfrm>
              <a:off x="76200" y="28575"/>
              <a:ext cx="660400" cy="708025"/>
            </a:xfrm>
            <a:prstGeom prst="rect">
              <a:avLst/>
            </a:prstGeom>
            <a:noFill/>
            <a:ln>
              <a:noFill/>
            </a:ln>
          </p:spPr>
          <p:txBody>
            <a:bodyPr anchorCtr="0" anchor="ctr" bIns="0" lIns="0" spcFirstLastPara="1" rIns="0" wrap="square" tIns="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9" name="Google Shape;249;p8"/>
          <p:cNvGrpSpPr/>
          <p:nvPr/>
        </p:nvGrpSpPr>
        <p:grpSpPr>
          <a:xfrm>
            <a:off x="7944228" y="7402839"/>
            <a:ext cx="373607" cy="373607"/>
            <a:chOff x="0" y="0"/>
            <a:chExt cx="812800" cy="812800"/>
          </a:xfrm>
        </p:grpSpPr>
        <p:sp>
          <p:nvSpPr>
            <p:cNvPr id="250" name="Google Shape;250;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cap="sq" cmpd="sng" w="38100">
              <a:solidFill>
                <a:srgbClr val="00569E"/>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txBox="1"/>
            <p:nvPr/>
          </p:nvSpPr>
          <p:spPr>
            <a:xfrm>
              <a:off x="76200" y="28575"/>
              <a:ext cx="660400" cy="708025"/>
            </a:xfrm>
            <a:prstGeom prst="rect">
              <a:avLst/>
            </a:prstGeom>
            <a:noFill/>
            <a:ln>
              <a:noFill/>
            </a:ln>
          </p:spPr>
          <p:txBody>
            <a:bodyPr anchorCtr="0" anchor="ctr" bIns="0" lIns="0" spcFirstLastPara="1" rIns="0" wrap="square" tIns="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2" name="Google Shape;252;p8"/>
          <p:cNvGrpSpPr/>
          <p:nvPr/>
        </p:nvGrpSpPr>
        <p:grpSpPr>
          <a:xfrm>
            <a:off x="8309460" y="5760481"/>
            <a:ext cx="373607" cy="373607"/>
            <a:chOff x="0" y="0"/>
            <a:chExt cx="812800" cy="812800"/>
          </a:xfrm>
        </p:grpSpPr>
        <p:sp>
          <p:nvSpPr>
            <p:cNvPr id="253" name="Google Shape;253;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cap="sq" cmpd="sng" w="38100">
              <a:solidFill>
                <a:srgbClr val="00569E"/>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txBox="1"/>
            <p:nvPr/>
          </p:nvSpPr>
          <p:spPr>
            <a:xfrm>
              <a:off x="76200" y="28575"/>
              <a:ext cx="660400" cy="708025"/>
            </a:xfrm>
            <a:prstGeom prst="rect">
              <a:avLst/>
            </a:prstGeom>
            <a:noFill/>
            <a:ln>
              <a:noFill/>
            </a:ln>
          </p:spPr>
          <p:txBody>
            <a:bodyPr anchorCtr="0" anchor="ctr" bIns="0" lIns="0" spcFirstLastPara="1" rIns="0" wrap="square" tIns="0">
              <a:noAutofit/>
            </a:bodyPr>
            <a:lstStyle/>
            <a:p>
              <a:pPr indent="0" lvl="0" marL="0" marR="0" rtl="0" algn="ctr">
                <a:lnSpc>
                  <a:spcPct val="20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58" name="Shape 258"/>
        <p:cNvGrpSpPr/>
        <p:nvPr/>
      </p:nvGrpSpPr>
      <p:grpSpPr>
        <a:xfrm>
          <a:off x="0" y="0"/>
          <a:ext cx="0" cy="0"/>
          <a:chOff x="0" y="0"/>
          <a:chExt cx="0" cy="0"/>
        </a:xfrm>
      </p:grpSpPr>
      <p:grpSp>
        <p:nvGrpSpPr>
          <p:cNvPr id="259" name="Google Shape;259;g2cc9331e76c_6_59"/>
          <p:cNvGrpSpPr/>
          <p:nvPr/>
        </p:nvGrpSpPr>
        <p:grpSpPr>
          <a:xfrm>
            <a:off x="15238003" y="8290589"/>
            <a:ext cx="7523764" cy="7523764"/>
            <a:chOff x="0" y="0"/>
            <a:chExt cx="812800" cy="812800"/>
          </a:xfrm>
        </p:grpSpPr>
        <p:sp>
          <p:nvSpPr>
            <p:cNvPr id="260" name="Google Shape;260;g2cc9331e76c_6_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2cc9331e76c_6_5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2" name="Google Shape;262;g2cc9331e76c_6_59"/>
          <p:cNvGrpSpPr/>
          <p:nvPr/>
        </p:nvGrpSpPr>
        <p:grpSpPr>
          <a:xfrm>
            <a:off x="-3724222" y="-4507687"/>
            <a:ext cx="5924499" cy="5924499"/>
            <a:chOff x="0" y="0"/>
            <a:chExt cx="812800" cy="812800"/>
          </a:xfrm>
        </p:grpSpPr>
        <p:sp>
          <p:nvSpPr>
            <p:cNvPr id="263" name="Google Shape;263;g2cc9331e76c_6_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2cc9331e76c_6_5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5" name="Google Shape;265;g2cc9331e76c_6_59"/>
          <p:cNvSpPr txBox="1"/>
          <p:nvPr/>
        </p:nvSpPr>
        <p:spPr>
          <a:xfrm>
            <a:off x="2200275" y="1018950"/>
            <a:ext cx="55731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500">
                <a:solidFill>
                  <a:schemeClr val="dk1"/>
                </a:solidFill>
                <a:latin typeface="Open Sans ExtraBold"/>
                <a:ea typeface="Open Sans ExtraBold"/>
                <a:cs typeface="Open Sans ExtraBold"/>
                <a:sym typeface="Open Sans ExtraBold"/>
              </a:rPr>
              <a:t>Packages Used</a:t>
            </a:r>
            <a:endParaRPr sz="4500">
              <a:solidFill>
                <a:schemeClr val="dk1"/>
              </a:solidFill>
              <a:latin typeface="Open Sans ExtraBold"/>
              <a:ea typeface="Open Sans ExtraBold"/>
              <a:cs typeface="Open Sans ExtraBold"/>
              <a:sym typeface="Open Sans ExtraBold"/>
            </a:endParaRPr>
          </a:p>
        </p:txBody>
      </p:sp>
      <p:sp>
        <p:nvSpPr>
          <p:cNvPr id="266" name="Google Shape;266;g2cc9331e76c_6_59"/>
          <p:cNvSpPr txBox="1"/>
          <p:nvPr/>
        </p:nvSpPr>
        <p:spPr>
          <a:xfrm>
            <a:off x="2370175" y="2148675"/>
            <a:ext cx="15195600" cy="2093400"/>
          </a:xfrm>
          <a:prstGeom prst="rect">
            <a:avLst/>
          </a:prstGeom>
          <a:noFill/>
          <a:ln>
            <a:noFill/>
          </a:ln>
        </p:spPr>
        <p:txBody>
          <a:bodyPr anchorCtr="0" anchor="t" bIns="91425" lIns="91425" spcFirstLastPara="1" rIns="91425" wrap="square" tIns="91425">
            <a:spAutoFit/>
          </a:bodyPr>
          <a:lstStyle/>
          <a:p>
            <a:pPr indent="-425450" lvl="0" marL="457200" rtl="0" algn="l">
              <a:lnSpc>
                <a:spcPct val="150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Tensorflow</a:t>
            </a:r>
            <a:endParaRPr sz="3100">
              <a:solidFill>
                <a:schemeClr val="dk1"/>
              </a:solidFill>
              <a:latin typeface="Poppins"/>
              <a:ea typeface="Poppins"/>
              <a:cs typeface="Poppins"/>
              <a:sym typeface="Poppins"/>
            </a:endParaRPr>
          </a:p>
          <a:p>
            <a:pPr indent="-425450" lvl="0" marL="457200" rtl="0" algn="l">
              <a:lnSpc>
                <a:spcPct val="150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Keras</a:t>
            </a:r>
            <a:endParaRPr sz="3100">
              <a:solidFill>
                <a:schemeClr val="dk1"/>
              </a:solidFill>
              <a:latin typeface="Poppins"/>
              <a:ea typeface="Poppins"/>
              <a:cs typeface="Poppins"/>
              <a:sym typeface="Poppins"/>
            </a:endParaRPr>
          </a:p>
          <a:p>
            <a:pPr indent="-425450" lvl="0" marL="457200" rtl="0" algn="l">
              <a:lnSpc>
                <a:spcPct val="150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Matplotlib</a:t>
            </a:r>
            <a:endParaRPr sz="3100">
              <a:solidFill>
                <a:schemeClr val="dk1"/>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70" name="Shape 270"/>
        <p:cNvGrpSpPr/>
        <p:nvPr/>
      </p:nvGrpSpPr>
      <p:grpSpPr>
        <a:xfrm>
          <a:off x="0" y="0"/>
          <a:ext cx="0" cy="0"/>
          <a:chOff x="0" y="0"/>
          <a:chExt cx="0" cy="0"/>
        </a:xfrm>
      </p:grpSpPr>
      <p:grpSp>
        <p:nvGrpSpPr>
          <p:cNvPr id="271" name="Google Shape;271;p9"/>
          <p:cNvGrpSpPr/>
          <p:nvPr/>
        </p:nvGrpSpPr>
        <p:grpSpPr>
          <a:xfrm>
            <a:off x="247242" y="106235"/>
            <a:ext cx="17793291" cy="9938346"/>
            <a:chOff x="0" y="-38100"/>
            <a:chExt cx="4982580" cy="2782993"/>
          </a:xfrm>
        </p:grpSpPr>
        <p:sp>
          <p:nvSpPr>
            <p:cNvPr id="272" name="Google Shape;272;p9"/>
            <p:cNvSpPr/>
            <p:nvPr/>
          </p:nvSpPr>
          <p:spPr>
            <a:xfrm>
              <a:off x="0" y="0"/>
              <a:ext cx="4982580" cy="2744893"/>
            </a:xfrm>
            <a:custGeom>
              <a:rect b="b" l="l" r="r" t="t"/>
              <a:pathLst>
                <a:path extrusionOk="0" h="2744893" w="4982580">
                  <a:moveTo>
                    <a:pt x="0" y="0"/>
                  </a:moveTo>
                  <a:lnTo>
                    <a:pt x="4982580" y="0"/>
                  </a:lnTo>
                  <a:lnTo>
                    <a:pt x="4982580" y="2744893"/>
                  </a:lnTo>
                  <a:lnTo>
                    <a:pt x="0" y="2744893"/>
                  </a:lnTo>
                  <a:close/>
                </a:path>
              </a:pathLst>
            </a:custGeom>
            <a:solidFill>
              <a:srgbClr val="000000">
                <a:alpha val="0"/>
              </a:srgbClr>
            </a:solidFill>
            <a:ln cap="sq" cmpd="sng" w="228600">
              <a:solidFill>
                <a:srgbClr val="145DA0"/>
              </a:solidFill>
              <a:prstDash val="solid"/>
              <a:miter lim="8000"/>
              <a:headEnd len="sm" w="sm" type="none"/>
              <a:tailEnd len="sm" w="sm" type="none"/>
            </a:ln>
          </p:spPr>
        </p:sp>
        <p:sp>
          <p:nvSpPr>
            <p:cNvPr id="273" name="Google Shape;273;p9"/>
            <p:cNvSpPr txBox="1"/>
            <p:nvPr/>
          </p:nvSpPr>
          <p:spPr>
            <a:xfrm>
              <a:off x="0" y="-38100"/>
              <a:ext cx="4982580" cy="278299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4" name="Google Shape;274;p9"/>
          <p:cNvSpPr txBox="1"/>
          <p:nvPr/>
        </p:nvSpPr>
        <p:spPr>
          <a:xfrm>
            <a:off x="5201579" y="1304307"/>
            <a:ext cx="7884900" cy="692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Results and Discussion</a:t>
            </a:r>
            <a:endParaRPr/>
          </a:p>
        </p:txBody>
      </p:sp>
      <p:sp>
        <p:nvSpPr>
          <p:cNvPr id="275" name="Google Shape;275;p9"/>
          <p:cNvSpPr txBox="1"/>
          <p:nvPr/>
        </p:nvSpPr>
        <p:spPr>
          <a:xfrm>
            <a:off x="7917352" y="2253600"/>
            <a:ext cx="2843400" cy="55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300">
                <a:solidFill>
                  <a:schemeClr val="dk1"/>
                </a:solidFill>
                <a:latin typeface="Poppins SemiBold"/>
                <a:ea typeface="Poppins SemiBold"/>
                <a:cs typeface="Poppins SemiBold"/>
                <a:sym typeface="Poppins SemiBold"/>
              </a:rPr>
              <a:t>Train_Test Split</a:t>
            </a:r>
            <a:endParaRPr sz="2300">
              <a:solidFill>
                <a:schemeClr val="dk1"/>
              </a:solidFill>
              <a:latin typeface="Poppins SemiBold"/>
              <a:ea typeface="Poppins SemiBold"/>
              <a:cs typeface="Poppins SemiBold"/>
              <a:sym typeface="Poppins SemiBold"/>
            </a:endParaRPr>
          </a:p>
        </p:txBody>
      </p:sp>
      <p:pic>
        <p:nvPicPr>
          <p:cNvPr id="276" name="Google Shape;276;p9"/>
          <p:cNvPicPr preferRelativeResize="0"/>
          <p:nvPr/>
        </p:nvPicPr>
        <p:blipFill>
          <a:blip r:embed="rId3">
            <a:alphaModFix/>
          </a:blip>
          <a:stretch>
            <a:fillRect/>
          </a:stretch>
        </p:blipFill>
        <p:spPr>
          <a:xfrm>
            <a:off x="5776463" y="3063400"/>
            <a:ext cx="6734861" cy="6467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80" name="Shape 280"/>
        <p:cNvGrpSpPr/>
        <p:nvPr/>
      </p:nvGrpSpPr>
      <p:grpSpPr>
        <a:xfrm>
          <a:off x="0" y="0"/>
          <a:ext cx="0" cy="0"/>
          <a:chOff x="0" y="0"/>
          <a:chExt cx="0" cy="0"/>
        </a:xfrm>
      </p:grpSpPr>
      <p:grpSp>
        <p:nvGrpSpPr>
          <p:cNvPr id="281" name="Google Shape;281;g2cc9331e76c_6_0"/>
          <p:cNvGrpSpPr/>
          <p:nvPr/>
        </p:nvGrpSpPr>
        <p:grpSpPr>
          <a:xfrm>
            <a:off x="247242" y="106235"/>
            <a:ext cx="17793720" cy="9938728"/>
            <a:chOff x="0" y="-38100"/>
            <a:chExt cx="4982700" cy="2783100"/>
          </a:xfrm>
        </p:grpSpPr>
        <p:sp>
          <p:nvSpPr>
            <p:cNvPr id="282" name="Google Shape;282;g2cc9331e76c_6_0"/>
            <p:cNvSpPr/>
            <p:nvPr/>
          </p:nvSpPr>
          <p:spPr>
            <a:xfrm>
              <a:off x="0" y="0"/>
              <a:ext cx="4982580" cy="2744893"/>
            </a:xfrm>
            <a:custGeom>
              <a:rect b="b" l="l" r="r" t="t"/>
              <a:pathLst>
                <a:path extrusionOk="0" h="2744893" w="4982580">
                  <a:moveTo>
                    <a:pt x="0" y="0"/>
                  </a:moveTo>
                  <a:lnTo>
                    <a:pt x="4982580" y="0"/>
                  </a:lnTo>
                  <a:lnTo>
                    <a:pt x="4982580" y="2744893"/>
                  </a:lnTo>
                  <a:lnTo>
                    <a:pt x="0" y="2744893"/>
                  </a:lnTo>
                  <a:close/>
                </a:path>
              </a:pathLst>
            </a:custGeom>
            <a:solidFill>
              <a:srgbClr val="000000">
                <a:alpha val="0"/>
              </a:srgbClr>
            </a:solidFill>
            <a:ln cap="sq" cmpd="sng" w="228600">
              <a:solidFill>
                <a:srgbClr val="145DA0"/>
              </a:solidFill>
              <a:prstDash val="solid"/>
              <a:miter lim="8000"/>
              <a:headEnd len="sm" w="sm" type="none"/>
              <a:tailEnd len="sm" w="sm" type="none"/>
            </a:ln>
          </p:spPr>
        </p:sp>
        <p:sp>
          <p:nvSpPr>
            <p:cNvPr id="283" name="Google Shape;283;g2cc9331e76c_6_0"/>
            <p:cNvSpPr txBox="1"/>
            <p:nvPr/>
          </p:nvSpPr>
          <p:spPr>
            <a:xfrm>
              <a:off x="0" y="-38100"/>
              <a:ext cx="4982700" cy="2783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4" name="Google Shape;284;g2cc9331e76c_6_0"/>
          <p:cNvSpPr txBox="1"/>
          <p:nvPr/>
        </p:nvSpPr>
        <p:spPr>
          <a:xfrm>
            <a:off x="5201579" y="1304307"/>
            <a:ext cx="7884900" cy="692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Results and Discussion</a:t>
            </a:r>
            <a:endParaRPr/>
          </a:p>
        </p:txBody>
      </p:sp>
      <p:sp>
        <p:nvSpPr>
          <p:cNvPr id="285" name="Google Shape;285;g2cc9331e76c_6_0"/>
          <p:cNvSpPr txBox="1"/>
          <p:nvPr/>
        </p:nvSpPr>
        <p:spPr>
          <a:xfrm>
            <a:off x="8338450" y="2262075"/>
            <a:ext cx="1611300" cy="55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300">
                <a:solidFill>
                  <a:schemeClr val="dk1"/>
                </a:solidFill>
                <a:latin typeface="Poppins SemiBold"/>
                <a:ea typeface="Poppins SemiBold"/>
                <a:cs typeface="Poppins SemiBold"/>
                <a:sym typeface="Poppins SemiBold"/>
              </a:rPr>
              <a:t>Accuracy</a:t>
            </a:r>
            <a:endParaRPr sz="2300">
              <a:solidFill>
                <a:schemeClr val="dk1"/>
              </a:solidFill>
              <a:latin typeface="Poppins SemiBold"/>
              <a:ea typeface="Poppins SemiBold"/>
              <a:cs typeface="Poppins SemiBold"/>
              <a:sym typeface="Poppins SemiBold"/>
            </a:endParaRPr>
          </a:p>
        </p:txBody>
      </p:sp>
      <p:pic>
        <p:nvPicPr>
          <p:cNvPr id="286" name="Google Shape;286;g2cc9331e76c_6_0"/>
          <p:cNvPicPr preferRelativeResize="0"/>
          <p:nvPr/>
        </p:nvPicPr>
        <p:blipFill>
          <a:blip r:embed="rId3">
            <a:alphaModFix/>
          </a:blip>
          <a:stretch>
            <a:fillRect/>
          </a:stretch>
        </p:blipFill>
        <p:spPr>
          <a:xfrm>
            <a:off x="1135325" y="3355050"/>
            <a:ext cx="8894675" cy="850400"/>
          </a:xfrm>
          <a:prstGeom prst="rect">
            <a:avLst/>
          </a:prstGeom>
          <a:noFill/>
          <a:ln>
            <a:noFill/>
          </a:ln>
        </p:spPr>
      </p:pic>
      <p:pic>
        <p:nvPicPr>
          <p:cNvPr id="287" name="Google Shape;287;g2cc9331e76c_6_0"/>
          <p:cNvPicPr preferRelativeResize="0"/>
          <p:nvPr/>
        </p:nvPicPr>
        <p:blipFill>
          <a:blip r:embed="rId4">
            <a:alphaModFix/>
          </a:blip>
          <a:stretch>
            <a:fillRect/>
          </a:stretch>
        </p:blipFill>
        <p:spPr>
          <a:xfrm>
            <a:off x="10008025" y="3120075"/>
            <a:ext cx="7535875" cy="6087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91" name="Shape 291"/>
        <p:cNvGrpSpPr/>
        <p:nvPr/>
      </p:nvGrpSpPr>
      <p:grpSpPr>
        <a:xfrm>
          <a:off x="0" y="0"/>
          <a:ext cx="0" cy="0"/>
          <a:chOff x="0" y="0"/>
          <a:chExt cx="0" cy="0"/>
        </a:xfrm>
      </p:grpSpPr>
      <p:grpSp>
        <p:nvGrpSpPr>
          <p:cNvPr id="292" name="Google Shape;292;g2cc9331e76c_6_11"/>
          <p:cNvGrpSpPr/>
          <p:nvPr/>
        </p:nvGrpSpPr>
        <p:grpSpPr>
          <a:xfrm>
            <a:off x="247242" y="106235"/>
            <a:ext cx="17793720" cy="9938728"/>
            <a:chOff x="0" y="-38100"/>
            <a:chExt cx="4982700" cy="2783100"/>
          </a:xfrm>
        </p:grpSpPr>
        <p:sp>
          <p:nvSpPr>
            <p:cNvPr id="293" name="Google Shape;293;g2cc9331e76c_6_11"/>
            <p:cNvSpPr/>
            <p:nvPr/>
          </p:nvSpPr>
          <p:spPr>
            <a:xfrm>
              <a:off x="0" y="0"/>
              <a:ext cx="4982580" cy="2744893"/>
            </a:xfrm>
            <a:custGeom>
              <a:rect b="b" l="l" r="r" t="t"/>
              <a:pathLst>
                <a:path extrusionOk="0" h="2744893" w="4982580">
                  <a:moveTo>
                    <a:pt x="0" y="0"/>
                  </a:moveTo>
                  <a:lnTo>
                    <a:pt x="4982580" y="0"/>
                  </a:lnTo>
                  <a:lnTo>
                    <a:pt x="4982580" y="2744893"/>
                  </a:lnTo>
                  <a:lnTo>
                    <a:pt x="0" y="2744893"/>
                  </a:lnTo>
                  <a:close/>
                </a:path>
              </a:pathLst>
            </a:custGeom>
            <a:solidFill>
              <a:srgbClr val="000000">
                <a:alpha val="0"/>
              </a:srgbClr>
            </a:solidFill>
            <a:ln cap="sq" cmpd="sng" w="228600">
              <a:solidFill>
                <a:srgbClr val="145DA0"/>
              </a:solidFill>
              <a:prstDash val="solid"/>
              <a:miter lim="8000"/>
              <a:headEnd len="sm" w="sm" type="none"/>
              <a:tailEnd len="sm" w="sm" type="none"/>
            </a:ln>
          </p:spPr>
        </p:sp>
        <p:sp>
          <p:nvSpPr>
            <p:cNvPr id="294" name="Google Shape;294;g2cc9331e76c_6_11"/>
            <p:cNvSpPr txBox="1"/>
            <p:nvPr/>
          </p:nvSpPr>
          <p:spPr>
            <a:xfrm>
              <a:off x="0" y="-38100"/>
              <a:ext cx="4982700" cy="2783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5" name="Google Shape;295;g2cc9331e76c_6_11"/>
          <p:cNvSpPr txBox="1"/>
          <p:nvPr/>
        </p:nvSpPr>
        <p:spPr>
          <a:xfrm>
            <a:off x="5201579" y="1304307"/>
            <a:ext cx="7884900" cy="692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Results and Discussion</a:t>
            </a:r>
            <a:endParaRPr/>
          </a:p>
        </p:txBody>
      </p:sp>
      <p:sp>
        <p:nvSpPr>
          <p:cNvPr id="296" name="Google Shape;296;g2cc9331e76c_6_11"/>
          <p:cNvSpPr txBox="1"/>
          <p:nvPr/>
        </p:nvSpPr>
        <p:spPr>
          <a:xfrm>
            <a:off x="1135325" y="2238625"/>
            <a:ext cx="5411400" cy="55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300">
                <a:solidFill>
                  <a:schemeClr val="dk1"/>
                </a:solidFill>
                <a:latin typeface="Poppins SemiBold"/>
                <a:ea typeface="Poppins SemiBold"/>
                <a:cs typeface="Poppins SemiBold"/>
                <a:sym typeface="Poppins SemiBold"/>
              </a:rPr>
              <a:t>Confusion matrix</a:t>
            </a:r>
            <a:endParaRPr sz="2300">
              <a:solidFill>
                <a:schemeClr val="dk1"/>
              </a:solidFill>
              <a:latin typeface="Poppins SemiBold"/>
              <a:ea typeface="Poppins SemiBold"/>
              <a:cs typeface="Poppins SemiBold"/>
              <a:sym typeface="Poppins SemiBold"/>
            </a:endParaRPr>
          </a:p>
        </p:txBody>
      </p:sp>
      <p:pic>
        <p:nvPicPr>
          <p:cNvPr id="297" name="Google Shape;297;g2cc9331e76c_6_11"/>
          <p:cNvPicPr preferRelativeResize="0"/>
          <p:nvPr/>
        </p:nvPicPr>
        <p:blipFill>
          <a:blip r:embed="rId3">
            <a:alphaModFix/>
          </a:blip>
          <a:stretch>
            <a:fillRect/>
          </a:stretch>
        </p:blipFill>
        <p:spPr>
          <a:xfrm>
            <a:off x="1059124" y="3102524"/>
            <a:ext cx="8213901" cy="6430150"/>
          </a:xfrm>
          <a:prstGeom prst="rect">
            <a:avLst/>
          </a:prstGeom>
          <a:noFill/>
          <a:ln>
            <a:noFill/>
          </a:ln>
        </p:spPr>
      </p:pic>
      <p:sp>
        <p:nvSpPr>
          <p:cNvPr id="298" name="Google Shape;298;g2cc9331e76c_6_11"/>
          <p:cNvSpPr txBox="1"/>
          <p:nvPr/>
        </p:nvSpPr>
        <p:spPr>
          <a:xfrm>
            <a:off x="10128600" y="2238625"/>
            <a:ext cx="5411400" cy="55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300">
                <a:solidFill>
                  <a:schemeClr val="dk1"/>
                </a:solidFill>
                <a:latin typeface="Poppins SemiBold"/>
                <a:ea typeface="Poppins SemiBold"/>
                <a:cs typeface="Poppins SemiBold"/>
                <a:sym typeface="Poppins SemiBold"/>
              </a:rPr>
              <a:t>Classification report</a:t>
            </a:r>
            <a:endParaRPr sz="2300">
              <a:solidFill>
                <a:schemeClr val="dk1"/>
              </a:solidFill>
              <a:latin typeface="Poppins SemiBold"/>
              <a:ea typeface="Poppins SemiBold"/>
              <a:cs typeface="Poppins SemiBold"/>
              <a:sym typeface="Poppins SemiBold"/>
            </a:endParaRPr>
          </a:p>
        </p:txBody>
      </p:sp>
      <p:pic>
        <p:nvPicPr>
          <p:cNvPr id="299" name="Google Shape;299;g2cc9331e76c_6_11"/>
          <p:cNvPicPr preferRelativeResize="0"/>
          <p:nvPr/>
        </p:nvPicPr>
        <p:blipFill>
          <a:blip r:embed="rId4">
            <a:alphaModFix/>
          </a:blip>
          <a:stretch>
            <a:fillRect/>
          </a:stretch>
        </p:blipFill>
        <p:spPr>
          <a:xfrm>
            <a:off x="9888809" y="3541450"/>
            <a:ext cx="7552575" cy="3120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03" name="Shape 303"/>
        <p:cNvGrpSpPr/>
        <p:nvPr/>
      </p:nvGrpSpPr>
      <p:grpSpPr>
        <a:xfrm>
          <a:off x="0" y="0"/>
          <a:ext cx="0" cy="0"/>
          <a:chOff x="0" y="0"/>
          <a:chExt cx="0" cy="0"/>
        </a:xfrm>
      </p:grpSpPr>
      <p:grpSp>
        <p:nvGrpSpPr>
          <p:cNvPr id="304" name="Google Shape;304;g2cc9331e76c_6_24"/>
          <p:cNvGrpSpPr/>
          <p:nvPr/>
        </p:nvGrpSpPr>
        <p:grpSpPr>
          <a:xfrm>
            <a:off x="247242" y="106235"/>
            <a:ext cx="17793720" cy="9938728"/>
            <a:chOff x="0" y="-38100"/>
            <a:chExt cx="4982700" cy="2783100"/>
          </a:xfrm>
        </p:grpSpPr>
        <p:sp>
          <p:nvSpPr>
            <p:cNvPr id="305" name="Google Shape;305;g2cc9331e76c_6_24"/>
            <p:cNvSpPr/>
            <p:nvPr/>
          </p:nvSpPr>
          <p:spPr>
            <a:xfrm>
              <a:off x="0" y="0"/>
              <a:ext cx="4982580" cy="2744893"/>
            </a:xfrm>
            <a:custGeom>
              <a:rect b="b" l="l" r="r" t="t"/>
              <a:pathLst>
                <a:path extrusionOk="0" h="2744893" w="4982580">
                  <a:moveTo>
                    <a:pt x="0" y="0"/>
                  </a:moveTo>
                  <a:lnTo>
                    <a:pt x="4982580" y="0"/>
                  </a:lnTo>
                  <a:lnTo>
                    <a:pt x="4982580" y="2744893"/>
                  </a:lnTo>
                  <a:lnTo>
                    <a:pt x="0" y="2744893"/>
                  </a:lnTo>
                  <a:close/>
                </a:path>
              </a:pathLst>
            </a:custGeom>
            <a:solidFill>
              <a:srgbClr val="000000">
                <a:alpha val="0"/>
              </a:srgbClr>
            </a:solidFill>
            <a:ln cap="sq" cmpd="sng" w="228600">
              <a:solidFill>
                <a:srgbClr val="145DA0"/>
              </a:solidFill>
              <a:prstDash val="solid"/>
              <a:miter lim="8000"/>
              <a:headEnd len="sm" w="sm" type="none"/>
              <a:tailEnd len="sm" w="sm" type="none"/>
            </a:ln>
          </p:spPr>
        </p:sp>
        <p:sp>
          <p:nvSpPr>
            <p:cNvPr id="306" name="Google Shape;306;g2cc9331e76c_6_24"/>
            <p:cNvSpPr txBox="1"/>
            <p:nvPr/>
          </p:nvSpPr>
          <p:spPr>
            <a:xfrm>
              <a:off x="0" y="-38100"/>
              <a:ext cx="4982700" cy="2783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7" name="Google Shape;307;g2cc9331e76c_6_24"/>
          <p:cNvSpPr txBox="1"/>
          <p:nvPr/>
        </p:nvSpPr>
        <p:spPr>
          <a:xfrm>
            <a:off x="5201579" y="1304307"/>
            <a:ext cx="7884900" cy="692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Results and Discussion</a:t>
            </a:r>
            <a:endParaRPr/>
          </a:p>
        </p:txBody>
      </p:sp>
      <p:sp>
        <p:nvSpPr>
          <p:cNvPr id="308" name="Google Shape;308;g2cc9331e76c_6_24"/>
          <p:cNvSpPr txBox="1"/>
          <p:nvPr/>
        </p:nvSpPr>
        <p:spPr>
          <a:xfrm>
            <a:off x="7124400" y="2378000"/>
            <a:ext cx="4039200" cy="55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600">
                <a:solidFill>
                  <a:schemeClr val="dk1"/>
                </a:solidFill>
                <a:latin typeface="Poppins SemiBold"/>
                <a:ea typeface="Poppins SemiBold"/>
                <a:cs typeface="Poppins SemiBold"/>
                <a:sym typeface="Poppins SemiBold"/>
              </a:rPr>
              <a:t>Prediction Generated </a:t>
            </a:r>
            <a:endParaRPr sz="2600">
              <a:solidFill>
                <a:schemeClr val="dk1"/>
              </a:solidFill>
              <a:latin typeface="Poppins SemiBold"/>
              <a:ea typeface="Poppins SemiBold"/>
              <a:cs typeface="Poppins SemiBold"/>
              <a:sym typeface="Poppins SemiBold"/>
            </a:endParaRPr>
          </a:p>
        </p:txBody>
      </p:sp>
      <p:pic>
        <p:nvPicPr>
          <p:cNvPr id="309" name="Google Shape;309;g2cc9331e76c_6_24"/>
          <p:cNvPicPr preferRelativeResize="0"/>
          <p:nvPr/>
        </p:nvPicPr>
        <p:blipFill>
          <a:blip r:embed="rId3">
            <a:alphaModFix/>
          </a:blip>
          <a:stretch>
            <a:fillRect/>
          </a:stretch>
        </p:blipFill>
        <p:spPr>
          <a:xfrm>
            <a:off x="481475" y="3429000"/>
            <a:ext cx="5598725" cy="4908200"/>
          </a:xfrm>
          <a:prstGeom prst="rect">
            <a:avLst/>
          </a:prstGeom>
          <a:noFill/>
          <a:ln>
            <a:noFill/>
          </a:ln>
        </p:spPr>
      </p:pic>
      <p:pic>
        <p:nvPicPr>
          <p:cNvPr id="310" name="Google Shape;310;g2cc9331e76c_6_24"/>
          <p:cNvPicPr preferRelativeResize="0"/>
          <p:nvPr/>
        </p:nvPicPr>
        <p:blipFill>
          <a:blip r:embed="rId4">
            <a:alphaModFix/>
          </a:blip>
          <a:stretch>
            <a:fillRect/>
          </a:stretch>
        </p:blipFill>
        <p:spPr>
          <a:xfrm>
            <a:off x="12008400" y="3429000"/>
            <a:ext cx="5598726" cy="4924416"/>
          </a:xfrm>
          <a:prstGeom prst="rect">
            <a:avLst/>
          </a:prstGeom>
          <a:noFill/>
          <a:ln>
            <a:noFill/>
          </a:ln>
        </p:spPr>
      </p:pic>
      <p:pic>
        <p:nvPicPr>
          <p:cNvPr id="311" name="Google Shape;311;g2cc9331e76c_6_24"/>
          <p:cNvPicPr preferRelativeResize="0"/>
          <p:nvPr/>
        </p:nvPicPr>
        <p:blipFill>
          <a:blip r:embed="rId5">
            <a:alphaModFix/>
          </a:blip>
          <a:stretch>
            <a:fillRect/>
          </a:stretch>
        </p:blipFill>
        <p:spPr>
          <a:xfrm>
            <a:off x="6559875" y="3429000"/>
            <a:ext cx="5167565" cy="49082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15" name="Shape 315"/>
        <p:cNvGrpSpPr/>
        <p:nvPr/>
      </p:nvGrpSpPr>
      <p:grpSpPr>
        <a:xfrm>
          <a:off x="0" y="0"/>
          <a:ext cx="0" cy="0"/>
          <a:chOff x="0" y="0"/>
          <a:chExt cx="0" cy="0"/>
        </a:xfrm>
      </p:grpSpPr>
      <p:grpSp>
        <p:nvGrpSpPr>
          <p:cNvPr id="316" name="Google Shape;316;g2cc9331e76c_6_36"/>
          <p:cNvGrpSpPr/>
          <p:nvPr/>
        </p:nvGrpSpPr>
        <p:grpSpPr>
          <a:xfrm>
            <a:off x="247242" y="106235"/>
            <a:ext cx="17793720" cy="9938728"/>
            <a:chOff x="0" y="-38100"/>
            <a:chExt cx="4982700" cy="2783100"/>
          </a:xfrm>
        </p:grpSpPr>
        <p:sp>
          <p:nvSpPr>
            <p:cNvPr id="317" name="Google Shape;317;g2cc9331e76c_6_36"/>
            <p:cNvSpPr/>
            <p:nvPr/>
          </p:nvSpPr>
          <p:spPr>
            <a:xfrm>
              <a:off x="0" y="0"/>
              <a:ext cx="4982580" cy="2744893"/>
            </a:xfrm>
            <a:custGeom>
              <a:rect b="b" l="l" r="r" t="t"/>
              <a:pathLst>
                <a:path extrusionOk="0" h="2744893" w="4982580">
                  <a:moveTo>
                    <a:pt x="0" y="0"/>
                  </a:moveTo>
                  <a:lnTo>
                    <a:pt x="4982580" y="0"/>
                  </a:lnTo>
                  <a:lnTo>
                    <a:pt x="4982580" y="2744893"/>
                  </a:lnTo>
                  <a:lnTo>
                    <a:pt x="0" y="2744893"/>
                  </a:lnTo>
                  <a:close/>
                </a:path>
              </a:pathLst>
            </a:custGeom>
            <a:solidFill>
              <a:srgbClr val="000000">
                <a:alpha val="0"/>
              </a:srgbClr>
            </a:solidFill>
            <a:ln cap="sq" cmpd="sng" w="228600">
              <a:solidFill>
                <a:srgbClr val="145DA0"/>
              </a:solidFill>
              <a:prstDash val="solid"/>
              <a:miter lim="8000"/>
              <a:headEnd len="sm" w="sm" type="none"/>
              <a:tailEnd len="sm" w="sm" type="none"/>
            </a:ln>
          </p:spPr>
        </p:sp>
        <p:sp>
          <p:nvSpPr>
            <p:cNvPr id="318" name="Google Shape;318;g2cc9331e76c_6_36"/>
            <p:cNvSpPr txBox="1"/>
            <p:nvPr/>
          </p:nvSpPr>
          <p:spPr>
            <a:xfrm>
              <a:off x="0" y="-38100"/>
              <a:ext cx="4982700" cy="2783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9" name="Google Shape;319;g2cc9331e76c_6_36"/>
          <p:cNvSpPr txBox="1"/>
          <p:nvPr/>
        </p:nvSpPr>
        <p:spPr>
          <a:xfrm>
            <a:off x="5201579" y="1304307"/>
            <a:ext cx="7884900" cy="692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Results and Discussion</a:t>
            </a:r>
            <a:endParaRPr/>
          </a:p>
        </p:txBody>
      </p:sp>
      <p:sp>
        <p:nvSpPr>
          <p:cNvPr id="320" name="Google Shape;320;g2cc9331e76c_6_36"/>
          <p:cNvSpPr txBox="1"/>
          <p:nvPr/>
        </p:nvSpPr>
        <p:spPr>
          <a:xfrm>
            <a:off x="8040300" y="2511500"/>
            <a:ext cx="2207400" cy="55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300">
                <a:solidFill>
                  <a:schemeClr val="dk1"/>
                </a:solidFill>
                <a:latin typeface="Poppins SemiBold"/>
                <a:ea typeface="Poppins SemiBold"/>
                <a:cs typeface="Poppins SemiBold"/>
                <a:sym typeface="Poppins SemiBold"/>
              </a:rPr>
              <a:t>Quantization </a:t>
            </a:r>
            <a:endParaRPr sz="2300">
              <a:solidFill>
                <a:schemeClr val="dk1"/>
              </a:solidFill>
              <a:latin typeface="Poppins SemiBold"/>
              <a:ea typeface="Poppins SemiBold"/>
              <a:cs typeface="Poppins SemiBold"/>
              <a:sym typeface="Poppins SemiBold"/>
            </a:endParaRPr>
          </a:p>
        </p:txBody>
      </p:sp>
      <p:pic>
        <p:nvPicPr>
          <p:cNvPr id="321" name="Google Shape;321;g2cc9331e76c_6_36"/>
          <p:cNvPicPr preferRelativeResize="0"/>
          <p:nvPr/>
        </p:nvPicPr>
        <p:blipFill>
          <a:blip r:embed="rId3">
            <a:alphaModFix/>
          </a:blip>
          <a:stretch>
            <a:fillRect/>
          </a:stretch>
        </p:blipFill>
        <p:spPr>
          <a:xfrm>
            <a:off x="2129542" y="3514775"/>
            <a:ext cx="14028927" cy="2971450"/>
          </a:xfrm>
          <a:prstGeom prst="rect">
            <a:avLst/>
          </a:prstGeom>
          <a:noFill/>
          <a:ln>
            <a:noFill/>
          </a:ln>
        </p:spPr>
      </p:pic>
      <p:pic>
        <p:nvPicPr>
          <p:cNvPr id="322" name="Google Shape;322;g2cc9331e76c_6_36"/>
          <p:cNvPicPr preferRelativeResize="0"/>
          <p:nvPr/>
        </p:nvPicPr>
        <p:blipFill>
          <a:blip r:embed="rId4">
            <a:alphaModFix/>
          </a:blip>
          <a:stretch>
            <a:fillRect/>
          </a:stretch>
        </p:blipFill>
        <p:spPr>
          <a:xfrm>
            <a:off x="2129637" y="6936300"/>
            <a:ext cx="14028925" cy="160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26" name="Shape 326"/>
        <p:cNvGrpSpPr/>
        <p:nvPr/>
      </p:nvGrpSpPr>
      <p:grpSpPr>
        <a:xfrm>
          <a:off x="0" y="0"/>
          <a:ext cx="0" cy="0"/>
          <a:chOff x="0" y="0"/>
          <a:chExt cx="0" cy="0"/>
        </a:xfrm>
      </p:grpSpPr>
      <p:grpSp>
        <p:nvGrpSpPr>
          <p:cNvPr id="327" name="Google Shape;327;g2cc9331e76c_6_48"/>
          <p:cNvGrpSpPr/>
          <p:nvPr/>
        </p:nvGrpSpPr>
        <p:grpSpPr>
          <a:xfrm>
            <a:off x="247242" y="106235"/>
            <a:ext cx="17793720" cy="9938728"/>
            <a:chOff x="0" y="-38100"/>
            <a:chExt cx="4982700" cy="2783100"/>
          </a:xfrm>
        </p:grpSpPr>
        <p:sp>
          <p:nvSpPr>
            <p:cNvPr id="328" name="Google Shape;328;g2cc9331e76c_6_48"/>
            <p:cNvSpPr/>
            <p:nvPr/>
          </p:nvSpPr>
          <p:spPr>
            <a:xfrm>
              <a:off x="0" y="0"/>
              <a:ext cx="4982580" cy="2744893"/>
            </a:xfrm>
            <a:custGeom>
              <a:rect b="b" l="l" r="r" t="t"/>
              <a:pathLst>
                <a:path extrusionOk="0" h="2744893" w="4982580">
                  <a:moveTo>
                    <a:pt x="0" y="0"/>
                  </a:moveTo>
                  <a:lnTo>
                    <a:pt x="4982580" y="0"/>
                  </a:lnTo>
                  <a:lnTo>
                    <a:pt x="4982580" y="2744893"/>
                  </a:lnTo>
                  <a:lnTo>
                    <a:pt x="0" y="2744893"/>
                  </a:lnTo>
                  <a:close/>
                </a:path>
              </a:pathLst>
            </a:custGeom>
            <a:solidFill>
              <a:srgbClr val="000000">
                <a:alpha val="0"/>
              </a:srgbClr>
            </a:solidFill>
            <a:ln cap="sq" cmpd="sng" w="228600">
              <a:solidFill>
                <a:srgbClr val="145DA0"/>
              </a:solidFill>
              <a:prstDash val="solid"/>
              <a:miter lim="8000"/>
              <a:headEnd len="sm" w="sm" type="none"/>
              <a:tailEnd len="sm" w="sm" type="none"/>
            </a:ln>
          </p:spPr>
        </p:sp>
        <p:sp>
          <p:nvSpPr>
            <p:cNvPr id="329" name="Google Shape;329;g2cc9331e76c_6_48"/>
            <p:cNvSpPr txBox="1"/>
            <p:nvPr/>
          </p:nvSpPr>
          <p:spPr>
            <a:xfrm>
              <a:off x="0" y="-38100"/>
              <a:ext cx="4982700" cy="2783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0" name="Google Shape;330;g2cc9331e76c_6_48"/>
          <p:cNvSpPr txBox="1"/>
          <p:nvPr/>
        </p:nvSpPr>
        <p:spPr>
          <a:xfrm>
            <a:off x="5201579" y="1304307"/>
            <a:ext cx="7884900" cy="692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Results and Discussion</a:t>
            </a:r>
            <a:endParaRPr/>
          </a:p>
        </p:txBody>
      </p:sp>
      <p:sp>
        <p:nvSpPr>
          <p:cNvPr id="331" name="Google Shape;331;g2cc9331e76c_6_48"/>
          <p:cNvSpPr txBox="1"/>
          <p:nvPr/>
        </p:nvSpPr>
        <p:spPr>
          <a:xfrm>
            <a:off x="4151200" y="2212875"/>
            <a:ext cx="9985800" cy="85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300">
                <a:solidFill>
                  <a:schemeClr val="dk1"/>
                </a:solidFill>
                <a:latin typeface="Poppins SemiBold"/>
                <a:ea typeface="Poppins SemiBold"/>
                <a:cs typeface="Poppins SemiBold"/>
                <a:sym typeface="Poppins SemiBold"/>
              </a:rPr>
              <a:t>Confusion matrix obtained from quantized tflite model</a:t>
            </a:r>
            <a:endParaRPr sz="2300">
              <a:solidFill>
                <a:schemeClr val="dk1"/>
              </a:solidFill>
              <a:latin typeface="Poppins SemiBold"/>
              <a:ea typeface="Poppins SemiBold"/>
              <a:cs typeface="Poppins SemiBold"/>
              <a:sym typeface="Poppins SemiBold"/>
            </a:endParaRPr>
          </a:p>
          <a:p>
            <a:pPr indent="0" lvl="0" marL="0" rtl="0" algn="ctr">
              <a:spcBef>
                <a:spcPts val="0"/>
              </a:spcBef>
              <a:spcAft>
                <a:spcPts val="0"/>
              </a:spcAft>
              <a:buNone/>
            </a:pPr>
            <a:r>
              <a:rPr lang="en-US" sz="2300">
                <a:solidFill>
                  <a:schemeClr val="dk1"/>
                </a:solidFill>
                <a:latin typeface="Poppins SemiBold"/>
                <a:ea typeface="Poppins SemiBold"/>
                <a:cs typeface="Poppins SemiBold"/>
                <a:sym typeface="Poppins SemiBold"/>
              </a:rPr>
              <a:t>Accuracy: 69%</a:t>
            </a:r>
            <a:endParaRPr sz="2300">
              <a:solidFill>
                <a:schemeClr val="dk1"/>
              </a:solidFill>
              <a:latin typeface="Poppins SemiBold"/>
              <a:ea typeface="Poppins SemiBold"/>
              <a:cs typeface="Poppins SemiBold"/>
              <a:sym typeface="Poppins SemiBold"/>
            </a:endParaRPr>
          </a:p>
        </p:txBody>
      </p:sp>
      <p:pic>
        <p:nvPicPr>
          <p:cNvPr id="332" name="Google Shape;332;g2cc9331e76c_6_48"/>
          <p:cNvPicPr preferRelativeResize="0"/>
          <p:nvPr/>
        </p:nvPicPr>
        <p:blipFill>
          <a:blip r:embed="rId3">
            <a:alphaModFix/>
          </a:blip>
          <a:stretch>
            <a:fillRect/>
          </a:stretch>
        </p:blipFill>
        <p:spPr>
          <a:xfrm>
            <a:off x="5591550" y="3238900"/>
            <a:ext cx="7105112" cy="6348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36" name="Shape 336"/>
        <p:cNvGrpSpPr/>
        <p:nvPr/>
      </p:nvGrpSpPr>
      <p:grpSpPr>
        <a:xfrm>
          <a:off x="0" y="0"/>
          <a:ext cx="0" cy="0"/>
          <a:chOff x="0" y="0"/>
          <a:chExt cx="0" cy="0"/>
        </a:xfrm>
      </p:grpSpPr>
      <p:grpSp>
        <p:nvGrpSpPr>
          <p:cNvPr id="337" name="Google Shape;337;g2cc9331e76c_6_70"/>
          <p:cNvGrpSpPr/>
          <p:nvPr/>
        </p:nvGrpSpPr>
        <p:grpSpPr>
          <a:xfrm>
            <a:off x="247242" y="106235"/>
            <a:ext cx="17793720" cy="9938728"/>
            <a:chOff x="0" y="-38100"/>
            <a:chExt cx="4982700" cy="2783100"/>
          </a:xfrm>
        </p:grpSpPr>
        <p:sp>
          <p:nvSpPr>
            <p:cNvPr id="338" name="Google Shape;338;g2cc9331e76c_6_70"/>
            <p:cNvSpPr/>
            <p:nvPr/>
          </p:nvSpPr>
          <p:spPr>
            <a:xfrm>
              <a:off x="0" y="0"/>
              <a:ext cx="4982580" cy="2744893"/>
            </a:xfrm>
            <a:custGeom>
              <a:rect b="b" l="l" r="r" t="t"/>
              <a:pathLst>
                <a:path extrusionOk="0" h="2744893" w="4982580">
                  <a:moveTo>
                    <a:pt x="0" y="0"/>
                  </a:moveTo>
                  <a:lnTo>
                    <a:pt x="4982580" y="0"/>
                  </a:lnTo>
                  <a:lnTo>
                    <a:pt x="4982580" y="2744893"/>
                  </a:lnTo>
                  <a:lnTo>
                    <a:pt x="0" y="2744893"/>
                  </a:lnTo>
                  <a:close/>
                </a:path>
              </a:pathLst>
            </a:custGeom>
            <a:solidFill>
              <a:srgbClr val="000000">
                <a:alpha val="0"/>
              </a:srgbClr>
            </a:solidFill>
            <a:ln cap="sq" cmpd="sng" w="228600">
              <a:solidFill>
                <a:srgbClr val="145DA0"/>
              </a:solidFill>
              <a:prstDash val="solid"/>
              <a:miter lim="8000"/>
              <a:headEnd len="sm" w="sm" type="none"/>
              <a:tailEnd len="sm" w="sm" type="none"/>
            </a:ln>
          </p:spPr>
        </p:sp>
        <p:sp>
          <p:nvSpPr>
            <p:cNvPr id="339" name="Google Shape;339;g2cc9331e76c_6_70"/>
            <p:cNvSpPr txBox="1"/>
            <p:nvPr/>
          </p:nvSpPr>
          <p:spPr>
            <a:xfrm>
              <a:off x="0" y="-38100"/>
              <a:ext cx="4982700" cy="2783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0" name="Google Shape;340;g2cc9331e76c_6_70"/>
          <p:cNvSpPr txBox="1"/>
          <p:nvPr/>
        </p:nvSpPr>
        <p:spPr>
          <a:xfrm>
            <a:off x="5201579" y="1304307"/>
            <a:ext cx="7884900" cy="692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Mobile Application</a:t>
            </a:r>
            <a:endParaRPr/>
          </a:p>
        </p:txBody>
      </p:sp>
      <p:sp>
        <p:nvSpPr>
          <p:cNvPr id="341" name="Google Shape;341;g2cc9331e76c_6_70"/>
          <p:cNvSpPr txBox="1"/>
          <p:nvPr/>
        </p:nvSpPr>
        <p:spPr>
          <a:xfrm>
            <a:off x="1101875" y="2332875"/>
            <a:ext cx="15796500" cy="6456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400">
                <a:solidFill>
                  <a:schemeClr val="dk1"/>
                </a:solidFill>
                <a:latin typeface="Poppins Medium"/>
                <a:ea typeface="Poppins Medium"/>
                <a:cs typeface="Poppins Medium"/>
                <a:sym typeface="Poppins Medium"/>
              </a:rPr>
              <a:t>Framework Used: React Native</a:t>
            </a:r>
            <a:endParaRPr sz="2400">
              <a:solidFill>
                <a:schemeClr val="dk1"/>
              </a:solidFill>
              <a:latin typeface="Poppins Medium"/>
              <a:ea typeface="Poppins Medium"/>
              <a:cs typeface="Poppins Medium"/>
              <a:sym typeface="Poppins Medium"/>
            </a:endParaRPr>
          </a:p>
          <a:p>
            <a:pPr indent="0" lvl="0" marL="0" rtl="0" algn="just">
              <a:spcBef>
                <a:spcPts val="0"/>
              </a:spcBef>
              <a:spcAft>
                <a:spcPts val="0"/>
              </a:spcAft>
              <a:buNone/>
            </a:pPr>
            <a:r>
              <a:t/>
            </a:r>
            <a:endParaRPr sz="3200">
              <a:solidFill>
                <a:schemeClr val="dk1"/>
              </a:solidFill>
              <a:latin typeface="Poppins Medium"/>
              <a:ea typeface="Poppins Medium"/>
              <a:cs typeface="Poppins Medium"/>
              <a:sym typeface="Poppins Medium"/>
            </a:endParaRPr>
          </a:p>
          <a:p>
            <a:pPr indent="-374650" lvl="0" marL="457200" rtl="0" algn="just">
              <a:lnSpc>
                <a:spcPct val="150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React Native (also known as RN) is a popular JavaScript-based mobile app framework that allows you to build natively-rendered mobile apps for iOS and Android. </a:t>
            </a:r>
            <a:endParaRPr sz="2300">
              <a:solidFill>
                <a:schemeClr val="dk1"/>
              </a:solidFill>
              <a:latin typeface="Poppins"/>
              <a:ea typeface="Poppins"/>
              <a:cs typeface="Poppins"/>
              <a:sym typeface="Poppins"/>
            </a:endParaRPr>
          </a:p>
          <a:p>
            <a:pPr indent="-374650" lvl="0" marL="457200" rtl="0" algn="just">
              <a:lnSpc>
                <a:spcPct val="150000"/>
              </a:lnSpc>
              <a:spcBef>
                <a:spcPts val="100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The framework lets you create an application for various platforms by using the same codebase.</a:t>
            </a:r>
            <a:endParaRPr sz="2300">
              <a:solidFill>
                <a:schemeClr val="dk1"/>
              </a:solidFill>
              <a:latin typeface="Poppins"/>
              <a:ea typeface="Poppins"/>
              <a:cs typeface="Poppins"/>
              <a:sym typeface="Poppins"/>
            </a:endParaRPr>
          </a:p>
          <a:p>
            <a:pPr indent="-374650" lvl="0" marL="457200" rtl="0" algn="just">
              <a:lnSpc>
                <a:spcPct val="150000"/>
              </a:lnSpc>
              <a:spcBef>
                <a:spcPts val="100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By using React Native, companies can create code just once and use it to power both their iOS and Android apps. This translates to huge time and resource savings.</a:t>
            </a:r>
            <a:endParaRPr sz="2300">
              <a:solidFill>
                <a:schemeClr val="dk1"/>
              </a:solidFill>
              <a:latin typeface="Poppins"/>
              <a:ea typeface="Poppins"/>
              <a:cs typeface="Poppins"/>
              <a:sym typeface="Poppins"/>
            </a:endParaRPr>
          </a:p>
          <a:p>
            <a:pPr indent="-374650" lvl="0" marL="457200" rtl="0" algn="just">
              <a:lnSpc>
                <a:spcPct val="150000"/>
              </a:lnSpc>
              <a:spcBef>
                <a:spcPts val="100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React Native was built based on React – a JavaScript library, which was already hugely popular when the mobile framework was released. </a:t>
            </a:r>
            <a:endParaRPr sz="2300">
              <a:solidFill>
                <a:schemeClr val="dk1"/>
              </a:solidFill>
              <a:latin typeface="Poppins"/>
              <a:ea typeface="Poppins"/>
              <a:cs typeface="Poppins"/>
              <a:sym typeface="Poppins"/>
            </a:endParaRPr>
          </a:p>
          <a:p>
            <a:pPr indent="-374650" lvl="0" marL="457200" rtl="0" algn="just">
              <a:lnSpc>
                <a:spcPct val="150000"/>
              </a:lnSpc>
              <a:spcBef>
                <a:spcPts val="1000"/>
              </a:spcBef>
              <a:spcAft>
                <a:spcPts val="1000"/>
              </a:spcAft>
              <a:buClr>
                <a:schemeClr val="dk1"/>
              </a:buClr>
              <a:buSzPts val="2300"/>
              <a:buFont typeface="Poppins"/>
              <a:buChar char="●"/>
            </a:pPr>
            <a:r>
              <a:rPr lang="en-US" sz="2300">
                <a:solidFill>
                  <a:schemeClr val="dk1"/>
                </a:solidFill>
                <a:latin typeface="Poppins"/>
                <a:ea typeface="Poppins"/>
                <a:cs typeface="Poppins"/>
                <a:sym typeface="Poppins"/>
              </a:rPr>
              <a:t>The framework empowered frontend developers, who could previously only work with web-based technologies, to create robust, production-ready apps for mobile platforms.</a:t>
            </a:r>
            <a:endParaRPr sz="2300">
              <a:solidFill>
                <a:schemeClr val="dk1"/>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26e9d5ea29e_0_75"/>
          <p:cNvSpPr txBox="1"/>
          <p:nvPr/>
        </p:nvSpPr>
        <p:spPr>
          <a:xfrm>
            <a:off x="5201579" y="847107"/>
            <a:ext cx="7884900" cy="692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Application Interface</a:t>
            </a:r>
            <a:endParaRPr/>
          </a:p>
        </p:txBody>
      </p:sp>
      <p:pic>
        <p:nvPicPr>
          <p:cNvPr id="347" name="Google Shape;347;g26e9d5ea29e_0_75"/>
          <p:cNvPicPr preferRelativeResize="0"/>
          <p:nvPr/>
        </p:nvPicPr>
        <p:blipFill>
          <a:blip r:embed="rId3">
            <a:alphaModFix/>
          </a:blip>
          <a:stretch>
            <a:fillRect/>
          </a:stretch>
        </p:blipFill>
        <p:spPr>
          <a:xfrm>
            <a:off x="2350175" y="2359831"/>
            <a:ext cx="3313300" cy="7362868"/>
          </a:xfrm>
          <a:prstGeom prst="rect">
            <a:avLst/>
          </a:prstGeom>
          <a:noFill/>
          <a:ln>
            <a:noFill/>
          </a:ln>
        </p:spPr>
      </p:pic>
      <p:sp>
        <p:nvSpPr>
          <p:cNvPr id="348" name="Google Shape;348;g26e9d5ea29e_0_75"/>
          <p:cNvSpPr txBox="1"/>
          <p:nvPr/>
        </p:nvSpPr>
        <p:spPr>
          <a:xfrm>
            <a:off x="3784250" y="154450"/>
            <a:ext cx="926700" cy="15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349" name="Google Shape;349;g26e9d5ea29e_0_75"/>
          <p:cNvPicPr preferRelativeResize="0"/>
          <p:nvPr/>
        </p:nvPicPr>
        <p:blipFill>
          <a:blip r:embed="rId4">
            <a:alphaModFix/>
          </a:blip>
          <a:stretch>
            <a:fillRect/>
          </a:stretch>
        </p:blipFill>
        <p:spPr>
          <a:xfrm>
            <a:off x="7487363" y="2359797"/>
            <a:ext cx="3313325" cy="7362928"/>
          </a:xfrm>
          <a:prstGeom prst="rect">
            <a:avLst/>
          </a:prstGeom>
          <a:noFill/>
          <a:ln>
            <a:noFill/>
          </a:ln>
        </p:spPr>
      </p:pic>
      <p:pic>
        <p:nvPicPr>
          <p:cNvPr id="350" name="Google Shape;350;g26e9d5ea29e_0_75"/>
          <p:cNvPicPr preferRelativeResize="0"/>
          <p:nvPr/>
        </p:nvPicPr>
        <p:blipFill>
          <a:blip r:embed="rId5">
            <a:alphaModFix/>
          </a:blip>
          <a:stretch>
            <a:fillRect/>
          </a:stretch>
        </p:blipFill>
        <p:spPr>
          <a:xfrm>
            <a:off x="12624600" y="2359837"/>
            <a:ext cx="3313300" cy="736284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26e9d5ea29e_0_91"/>
          <p:cNvSpPr txBox="1"/>
          <p:nvPr/>
        </p:nvSpPr>
        <p:spPr>
          <a:xfrm>
            <a:off x="5201579" y="847107"/>
            <a:ext cx="7884900" cy="692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500">
                <a:solidFill>
                  <a:srgbClr val="051D40"/>
                </a:solidFill>
                <a:latin typeface="Open Sans ExtraBold"/>
                <a:ea typeface="Open Sans ExtraBold"/>
                <a:cs typeface="Open Sans ExtraBold"/>
                <a:sym typeface="Open Sans ExtraBold"/>
              </a:rPr>
              <a:t>Application Interface</a:t>
            </a:r>
            <a:endParaRPr/>
          </a:p>
        </p:txBody>
      </p:sp>
      <p:pic>
        <p:nvPicPr>
          <p:cNvPr id="356" name="Google Shape;356;g26e9d5ea29e_0_91"/>
          <p:cNvPicPr preferRelativeResize="0"/>
          <p:nvPr/>
        </p:nvPicPr>
        <p:blipFill>
          <a:blip r:embed="rId3">
            <a:alphaModFix/>
          </a:blip>
          <a:stretch>
            <a:fillRect/>
          </a:stretch>
        </p:blipFill>
        <p:spPr>
          <a:xfrm>
            <a:off x="5057175" y="1982225"/>
            <a:ext cx="3471626" cy="7714724"/>
          </a:xfrm>
          <a:prstGeom prst="rect">
            <a:avLst/>
          </a:prstGeom>
          <a:noFill/>
          <a:ln>
            <a:noFill/>
          </a:ln>
        </p:spPr>
      </p:pic>
      <p:pic>
        <p:nvPicPr>
          <p:cNvPr id="357" name="Google Shape;357;g26e9d5ea29e_0_91"/>
          <p:cNvPicPr preferRelativeResize="0"/>
          <p:nvPr/>
        </p:nvPicPr>
        <p:blipFill>
          <a:blip r:embed="rId4">
            <a:alphaModFix/>
          </a:blip>
          <a:stretch>
            <a:fillRect/>
          </a:stretch>
        </p:blipFill>
        <p:spPr>
          <a:xfrm>
            <a:off x="9759200" y="1982190"/>
            <a:ext cx="3471626" cy="77147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61" name="Shape 361"/>
        <p:cNvGrpSpPr/>
        <p:nvPr/>
      </p:nvGrpSpPr>
      <p:grpSpPr>
        <a:xfrm>
          <a:off x="0" y="0"/>
          <a:ext cx="0" cy="0"/>
          <a:chOff x="0" y="0"/>
          <a:chExt cx="0" cy="0"/>
        </a:xfrm>
      </p:grpSpPr>
      <p:grpSp>
        <p:nvGrpSpPr>
          <p:cNvPr id="362" name="Google Shape;362;p11"/>
          <p:cNvGrpSpPr/>
          <p:nvPr/>
        </p:nvGrpSpPr>
        <p:grpSpPr>
          <a:xfrm>
            <a:off x="15238003" y="8290589"/>
            <a:ext cx="7523764" cy="7523764"/>
            <a:chOff x="0" y="0"/>
            <a:chExt cx="812800" cy="812800"/>
          </a:xfrm>
        </p:grpSpPr>
        <p:sp>
          <p:nvSpPr>
            <p:cNvPr id="363" name="Google Shape;363;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5" name="Google Shape;365;p11"/>
          <p:cNvGrpSpPr/>
          <p:nvPr/>
        </p:nvGrpSpPr>
        <p:grpSpPr>
          <a:xfrm>
            <a:off x="-3724222" y="-4507687"/>
            <a:ext cx="5924499" cy="5924499"/>
            <a:chOff x="0" y="0"/>
            <a:chExt cx="812800" cy="812800"/>
          </a:xfrm>
        </p:grpSpPr>
        <p:sp>
          <p:nvSpPr>
            <p:cNvPr id="366" name="Google Shape;366;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8" name="Google Shape;368;p11"/>
          <p:cNvSpPr txBox="1"/>
          <p:nvPr/>
        </p:nvSpPr>
        <p:spPr>
          <a:xfrm>
            <a:off x="2200275" y="1018950"/>
            <a:ext cx="4098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500">
                <a:solidFill>
                  <a:schemeClr val="dk1"/>
                </a:solidFill>
                <a:latin typeface="Open Sans ExtraBold"/>
                <a:ea typeface="Open Sans ExtraBold"/>
                <a:cs typeface="Open Sans ExtraBold"/>
                <a:sym typeface="Open Sans ExtraBold"/>
              </a:rPr>
              <a:t>Future Scope</a:t>
            </a:r>
            <a:endParaRPr sz="4500">
              <a:solidFill>
                <a:schemeClr val="dk1"/>
              </a:solidFill>
              <a:latin typeface="Open Sans ExtraBold"/>
              <a:ea typeface="Open Sans ExtraBold"/>
              <a:cs typeface="Open Sans ExtraBold"/>
              <a:sym typeface="Open Sans ExtraBold"/>
            </a:endParaRPr>
          </a:p>
        </p:txBody>
      </p:sp>
      <p:sp>
        <p:nvSpPr>
          <p:cNvPr id="369" name="Google Shape;369;p11"/>
          <p:cNvSpPr txBox="1"/>
          <p:nvPr/>
        </p:nvSpPr>
        <p:spPr>
          <a:xfrm>
            <a:off x="2370175" y="2362000"/>
            <a:ext cx="15195600" cy="5928600"/>
          </a:xfrm>
          <a:prstGeom prst="rect">
            <a:avLst/>
          </a:prstGeom>
          <a:noFill/>
          <a:ln>
            <a:noFill/>
          </a:ln>
        </p:spPr>
        <p:txBody>
          <a:bodyPr anchorCtr="0" anchor="t" bIns="91425" lIns="91425" spcFirstLastPara="1" rIns="91425" wrap="square" tIns="91425">
            <a:spAutoFit/>
          </a:bodyPr>
          <a:lstStyle/>
          <a:p>
            <a:pPr indent="-374650" lvl="0" marL="457200" rtl="0" algn="just">
              <a:lnSpc>
                <a:spcPct val="150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Incorporating More Categories: Currently, the prediction model classifies oral images into three categories: normal, oral cancer, and pre-cancer. In the future, additional distinctions within these categories could be explored with the availability of relevant data. This expansion could enable more granular classification, enhancing the model's diagnostic capabilities and providing deeper insights into oral health conditions.</a:t>
            </a:r>
            <a:endParaRPr sz="2300">
              <a:solidFill>
                <a:schemeClr val="dk1"/>
              </a:solidFill>
              <a:latin typeface="Poppins"/>
              <a:ea typeface="Poppins"/>
              <a:cs typeface="Poppins"/>
              <a:sym typeface="Poppins"/>
            </a:endParaRPr>
          </a:p>
          <a:p>
            <a:pPr indent="0" lvl="0" marL="457200" rtl="0" algn="just">
              <a:lnSpc>
                <a:spcPct val="100000"/>
              </a:lnSpc>
              <a:spcBef>
                <a:spcPts val="1000"/>
              </a:spcBef>
              <a:spcAft>
                <a:spcPts val="0"/>
              </a:spcAft>
              <a:buNone/>
            </a:pPr>
            <a:r>
              <a:t/>
            </a:r>
            <a:endParaRPr sz="2300">
              <a:solidFill>
                <a:schemeClr val="dk1"/>
              </a:solidFill>
              <a:latin typeface="Poppins"/>
              <a:ea typeface="Poppins"/>
              <a:cs typeface="Poppins"/>
              <a:sym typeface="Poppins"/>
            </a:endParaRPr>
          </a:p>
          <a:p>
            <a:pPr indent="-374650" lvl="0" marL="457200" rtl="0" algn="just">
              <a:lnSpc>
                <a:spcPct val="150000"/>
              </a:lnSpc>
              <a:spcBef>
                <a:spcPts val="1000"/>
              </a:spcBef>
              <a:spcAft>
                <a:spcPts val="1000"/>
              </a:spcAft>
              <a:buClr>
                <a:schemeClr val="dk1"/>
              </a:buClr>
              <a:buSzPts val="2300"/>
              <a:buFont typeface="Poppins"/>
              <a:buChar char="●"/>
            </a:pPr>
            <a:r>
              <a:rPr lang="en-US" sz="2300">
                <a:solidFill>
                  <a:schemeClr val="dk1"/>
                </a:solidFill>
                <a:latin typeface="Poppins"/>
                <a:ea typeface="Poppins"/>
                <a:cs typeface="Poppins"/>
                <a:sym typeface="Poppins"/>
              </a:rPr>
              <a:t>Acquisition of More Data and Model Performance Improvement:  Continuous efforts should be made to acquire larger and more diverse datasets to further improve the performance of the prediction model. Increasing the variety and quantity of data available for training can enhance the model's ability to generalize to unseen cases and improve its accuracy and reliability in real-world scenarios.</a:t>
            </a:r>
            <a:endParaRPr sz="4300">
              <a:solidFill>
                <a:schemeClr val="dk1"/>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grpSp>
        <p:nvGrpSpPr>
          <p:cNvPr id="374" name="Google Shape;374;g26e9d5ea29e_0_61"/>
          <p:cNvGrpSpPr/>
          <p:nvPr/>
        </p:nvGrpSpPr>
        <p:grpSpPr>
          <a:xfrm>
            <a:off x="-3724222" y="-4507687"/>
            <a:ext cx="5924499" cy="5924499"/>
            <a:chOff x="0" y="0"/>
            <a:chExt cx="812800" cy="812800"/>
          </a:xfrm>
        </p:grpSpPr>
        <p:sp>
          <p:nvSpPr>
            <p:cNvPr id="375" name="Google Shape;375;g26e9d5ea29e_0_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26e9d5ea29e_0_6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7" name="Google Shape;377;g26e9d5ea29e_0_61"/>
          <p:cNvGrpSpPr/>
          <p:nvPr/>
        </p:nvGrpSpPr>
        <p:grpSpPr>
          <a:xfrm>
            <a:off x="15238003" y="8290589"/>
            <a:ext cx="7523764" cy="7523764"/>
            <a:chOff x="0" y="0"/>
            <a:chExt cx="812800" cy="812800"/>
          </a:xfrm>
        </p:grpSpPr>
        <p:sp>
          <p:nvSpPr>
            <p:cNvPr id="378" name="Google Shape;378;g26e9d5ea29e_0_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g26e9d5ea29e_0_6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0" name="Google Shape;380;g26e9d5ea29e_0_61"/>
          <p:cNvSpPr txBox="1"/>
          <p:nvPr/>
        </p:nvSpPr>
        <p:spPr>
          <a:xfrm>
            <a:off x="2200275" y="1018950"/>
            <a:ext cx="4098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500">
                <a:solidFill>
                  <a:schemeClr val="dk1"/>
                </a:solidFill>
                <a:latin typeface="Open Sans ExtraBold"/>
                <a:ea typeface="Open Sans ExtraBold"/>
                <a:cs typeface="Open Sans ExtraBold"/>
                <a:sym typeface="Open Sans ExtraBold"/>
              </a:rPr>
              <a:t>Future Scope</a:t>
            </a:r>
            <a:endParaRPr sz="4500">
              <a:solidFill>
                <a:schemeClr val="dk1"/>
              </a:solidFill>
              <a:latin typeface="Open Sans ExtraBold"/>
              <a:ea typeface="Open Sans ExtraBold"/>
              <a:cs typeface="Open Sans ExtraBold"/>
              <a:sym typeface="Open Sans ExtraBold"/>
            </a:endParaRPr>
          </a:p>
        </p:txBody>
      </p:sp>
      <p:sp>
        <p:nvSpPr>
          <p:cNvPr id="381" name="Google Shape;381;g26e9d5ea29e_0_61"/>
          <p:cNvSpPr txBox="1"/>
          <p:nvPr/>
        </p:nvSpPr>
        <p:spPr>
          <a:xfrm>
            <a:off x="2348025" y="2446375"/>
            <a:ext cx="14341800" cy="6990600"/>
          </a:xfrm>
          <a:prstGeom prst="rect">
            <a:avLst/>
          </a:prstGeom>
          <a:noFill/>
          <a:ln>
            <a:noFill/>
          </a:ln>
        </p:spPr>
        <p:txBody>
          <a:bodyPr anchorCtr="0" anchor="t" bIns="91425" lIns="91425" spcFirstLastPara="1" rIns="91425" wrap="square" tIns="91425">
            <a:spAutoFit/>
          </a:bodyPr>
          <a:lstStyle/>
          <a:p>
            <a:pPr indent="-374650" lvl="0" marL="457200" rtl="0" algn="just">
              <a:lnSpc>
                <a:spcPct val="150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Incorporating More Functionalities in the Mobile App: The mobile application for oral cancer detection can be enhanced with additional functionalities to improve user experience and utility. For example, features such as real-time feedback, educational resources on oral health, and integration with wearable devices for continuous monitoring could be incorporated to provide a comprehensive oral health management platform.</a:t>
            </a:r>
            <a:endParaRPr sz="2300">
              <a:solidFill>
                <a:schemeClr val="dk1"/>
              </a:solidFill>
              <a:latin typeface="Poppins"/>
              <a:ea typeface="Poppins"/>
              <a:cs typeface="Poppins"/>
              <a:sym typeface="Poppins"/>
            </a:endParaRPr>
          </a:p>
          <a:p>
            <a:pPr indent="0" lvl="0" marL="457200" rtl="0" algn="just">
              <a:lnSpc>
                <a:spcPct val="100000"/>
              </a:lnSpc>
              <a:spcBef>
                <a:spcPts val="1000"/>
              </a:spcBef>
              <a:spcAft>
                <a:spcPts val="0"/>
              </a:spcAft>
              <a:buNone/>
            </a:pPr>
            <a:r>
              <a:t/>
            </a:r>
            <a:endParaRPr sz="2300">
              <a:solidFill>
                <a:schemeClr val="dk1"/>
              </a:solidFill>
              <a:latin typeface="Poppins"/>
              <a:ea typeface="Poppins"/>
              <a:cs typeface="Poppins"/>
              <a:sym typeface="Poppins"/>
            </a:endParaRPr>
          </a:p>
          <a:p>
            <a:pPr indent="-374650" lvl="0" marL="457200" rtl="0" algn="just">
              <a:lnSpc>
                <a:spcPct val="150000"/>
              </a:lnSpc>
              <a:spcBef>
                <a:spcPts val="1000"/>
              </a:spcBef>
              <a:spcAft>
                <a:spcPts val="1000"/>
              </a:spcAft>
              <a:buClr>
                <a:schemeClr val="dk1"/>
              </a:buClr>
              <a:buSzPts val="2300"/>
              <a:buFont typeface="Poppins"/>
              <a:buChar char="●"/>
            </a:pPr>
            <a:r>
              <a:rPr lang="en-US" sz="2300">
                <a:solidFill>
                  <a:schemeClr val="dk1"/>
                </a:solidFill>
                <a:latin typeface="Poppins"/>
                <a:ea typeface="Poppins"/>
                <a:cs typeface="Poppins"/>
                <a:sym typeface="Poppins"/>
              </a:rPr>
              <a:t>Integration with Electronic Health Records (EHR): By Integrating the developed oral cancer detection system with electronic health record (EHR) systems, healthcare providers can access comprehensive patient histories and make well-informed decisions. Furthermore, leveraging longitudinal data from EHRs for retrospective analysis and outcome prediction can provide valuable insights into disease progression and treatment efficacy, guiding future research and clinical practice. This integration can lead to improved patient outcomes and more efficient healthcare delivery.</a:t>
            </a:r>
            <a:endParaRPr sz="4300">
              <a:solidFill>
                <a:schemeClr val="dk1"/>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385" name="Shape 385"/>
        <p:cNvGrpSpPr/>
        <p:nvPr/>
      </p:nvGrpSpPr>
      <p:grpSpPr>
        <a:xfrm>
          <a:off x="0" y="0"/>
          <a:ext cx="0" cy="0"/>
          <a:chOff x="0" y="0"/>
          <a:chExt cx="0" cy="0"/>
        </a:xfrm>
      </p:grpSpPr>
      <p:sp>
        <p:nvSpPr>
          <p:cNvPr id="386" name="Google Shape;386;g26e9d5ea29e_0_106"/>
          <p:cNvSpPr txBox="1"/>
          <p:nvPr/>
        </p:nvSpPr>
        <p:spPr>
          <a:xfrm>
            <a:off x="7998450" y="4650900"/>
            <a:ext cx="268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6000">
                <a:solidFill>
                  <a:schemeClr val="lt1"/>
                </a:solidFill>
                <a:latin typeface="Poppins SemiBold"/>
                <a:ea typeface="Poppins SemiBold"/>
                <a:cs typeface="Poppins SemiBold"/>
                <a:sym typeface="Poppins SemiBold"/>
              </a:rPr>
              <a:t>Demo</a:t>
            </a:r>
            <a:endParaRPr sz="6000">
              <a:solidFill>
                <a:schemeClr val="lt1"/>
              </a:solidFill>
              <a:latin typeface="Poppins SemiBold"/>
              <a:ea typeface="Poppins SemiBold"/>
              <a:cs typeface="Poppins SemiBold"/>
              <a:sym typeface="Poppins SemiBold"/>
            </a:endParaRPr>
          </a:p>
        </p:txBody>
      </p:sp>
      <p:grpSp>
        <p:nvGrpSpPr>
          <p:cNvPr id="387" name="Google Shape;387;g26e9d5ea29e_0_106"/>
          <p:cNvGrpSpPr/>
          <p:nvPr/>
        </p:nvGrpSpPr>
        <p:grpSpPr>
          <a:xfrm>
            <a:off x="-3047057" y="-1691223"/>
            <a:ext cx="4693026" cy="4693026"/>
            <a:chOff x="0" y="0"/>
            <a:chExt cx="812800" cy="812800"/>
          </a:xfrm>
        </p:grpSpPr>
        <p:sp>
          <p:nvSpPr>
            <p:cNvPr id="388" name="Google Shape;388;g26e9d5ea29e_0_10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FFFFFF">
                  <a:alpha val="1529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26e9d5ea29e_0_106"/>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0" name="Google Shape;390;g26e9d5ea29e_0_106"/>
          <p:cNvGrpSpPr/>
          <p:nvPr/>
        </p:nvGrpSpPr>
        <p:grpSpPr>
          <a:xfrm>
            <a:off x="15573718" y="7940477"/>
            <a:ext cx="4693026" cy="4693026"/>
            <a:chOff x="0" y="0"/>
            <a:chExt cx="812800" cy="812800"/>
          </a:xfrm>
        </p:grpSpPr>
        <p:sp>
          <p:nvSpPr>
            <p:cNvPr id="391" name="Google Shape;391;g26e9d5ea29e_0_10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FFFFFF">
                  <a:alpha val="1529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g26e9d5ea29e_0_106"/>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0"/>
          <p:cNvSpPr/>
          <p:nvPr/>
        </p:nvSpPr>
        <p:spPr>
          <a:xfrm>
            <a:off x="0" y="0"/>
            <a:ext cx="2020824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398" name="Google Shape;398;p10"/>
          <p:cNvSpPr/>
          <p:nvPr/>
        </p:nvSpPr>
        <p:spPr>
          <a:xfrm>
            <a:off x="3060525" y="791562"/>
            <a:ext cx="12166943" cy="8703882"/>
          </a:xfrm>
          <a:custGeom>
            <a:rect b="b" l="l" r="r" t="t"/>
            <a:pathLst>
              <a:path extrusionOk="0" h="1162067" w="3203935">
                <a:moveTo>
                  <a:pt x="0" y="0"/>
                </a:moveTo>
                <a:lnTo>
                  <a:pt x="3203935" y="0"/>
                </a:lnTo>
                <a:lnTo>
                  <a:pt x="3203935" y="1162067"/>
                </a:lnTo>
                <a:lnTo>
                  <a:pt x="0" y="1162067"/>
                </a:lnTo>
                <a:close/>
              </a:path>
            </a:pathLst>
          </a:custGeom>
          <a:solidFill>
            <a:srgbClr val="145DA0"/>
          </a:solidFill>
          <a:ln cap="sq" cmpd="sng" w="38100">
            <a:solidFill>
              <a:srgbClr val="FFFFFF"/>
            </a:solidFill>
            <a:prstDash val="solid"/>
            <a:miter lim="8000"/>
            <a:headEnd len="sm" w="sm" type="none"/>
            <a:tailEnd len="sm" w="sm" type="none"/>
          </a:ln>
        </p:spPr>
      </p:sp>
      <p:sp>
        <p:nvSpPr>
          <p:cNvPr id="399" name="Google Shape;399;p10"/>
          <p:cNvSpPr txBox="1"/>
          <p:nvPr/>
        </p:nvSpPr>
        <p:spPr>
          <a:xfrm>
            <a:off x="5240975" y="1487000"/>
            <a:ext cx="7806000" cy="112350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1" lang="en-US" sz="7300">
                <a:solidFill>
                  <a:srgbClr val="FFFFFF"/>
                </a:solidFill>
                <a:latin typeface="Open Sans ExtraBold"/>
                <a:ea typeface="Open Sans ExtraBold"/>
                <a:cs typeface="Open Sans ExtraBold"/>
                <a:sym typeface="Open Sans ExtraBold"/>
              </a:rPr>
              <a:t>CONCLUSION</a:t>
            </a:r>
            <a:endParaRPr sz="7300"/>
          </a:p>
        </p:txBody>
      </p:sp>
      <p:sp>
        <p:nvSpPr>
          <p:cNvPr id="400" name="Google Shape;400;p10"/>
          <p:cNvSpPr txBox="1"/>
          <p:nvPr/>
        </p:nvSpPr>
        <p:spPr>
          <a:xfrm>
            <a:off x="4536275" y="4311593"/>
            <a:ext cx="9215400" cy="215400"/>
          </a:xfrm>
          <a:prstGeom prst="rect">
            <a:avLst/>
          </a:prstGeom>
          <a:noFill/>
          <a:ln>
            <a:noFill/>
          </a:ln>
        </p:spPr>
        <p:txBody>
          <a:bodyPr anchorCtr="0" anchor="t" bIns="0" lIns="0" spcFirstLastPara="1" rIns="0" wrap="square" tIns="0">
            <a:spAutoFit/>
          </a:bodyPr>
          <a:lstStyle/>
          <a:p>
            <a:pPr indent="0" lvl="0" marL="0" marR="0" rtl="0" algn="ctr">
              <a:lnSpc>
                <a:spcPct val="140037"/>
              </a:lnSpc>
              <a:spcBef>
                <a:spcPts val="0"/>
              </a:spcBef>
              <a:spcAft>
                <a:spcPts val="0"/>
              </a:spcAft>
              <a:buNone/>
            </a:pPr>
            <a:r>
              <a:t/>
            </a:r>
            <a:endParaRPr/>
          </a:p>
        </p:txBody>
      </p:sp>
      <p:sp>
        <p:nvSpPr>
          <p:cNvPr id="401" name="Google Shape;401;p10"/>
          <p:cNvSpPr txBox="1"/>
          <p:nvPr/>
        </p:nvSpPr>
        <p:spPr>
          <a:xfrm>
            <a:off x="3746550" y="2928000"/>
            <a:ext cx="10794900" cy="5732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US" sz="2300">
                <a:solidFill>
                  <a:schemeClr val="lt1"/>
                </a:solidFill>
                <a:latin typeface="Poppins"/>
                <a:ea typeface="Poppins"/>
                <a:cs typeface="Poppins"/>
                <a:sym typeface="Poppins"/>
              </a:rPr>
              <a:t>The app empowers individuals to take a more proactive role in monitoring their oral health. It can raise awareness about oral cancer symptoms and encourage regular self-screening. The app can serve as a valuable tool, particularly in areas with limited access to health care, by prompting users to seek professional evaluation when necessary.</a:t>
            </a:r>
            <a:endParaRPr sz="2300">
              <a:solidFill>
                <a:schemeClr val="lt1"/>
              </a:solidFill>
              <a:latin typeface="Poppins"/>
              <a:ea typeface="Poppins"/>
              <a:cs typeface="Poppins"/>
              <a:sym typeface="Poppins"/>
            </a:endParaRPr>
          </a:p>
          <a:p>
            <a:pPr indent="0" lvl="0" marL="0" rtl="0" algn="just">
              <a:lnSpc>
                <a:spcPct val="115000"/>
              </a:lnSpc>
              <a:spcBef>
                <a:spcPts val="1200"/>
              </a:spcBef>
              <a:spcAft>
                <a:spcPts val="0"/>
              </a:spcAft>
              <a:buNone/>
            </a:pPr>
            <a:r>
              <a:rPr lang="en-US" sz="2300">
                <a:solidFill>
                  <a:schemeClr val="lt1"/>
                </a:solidFill>
                <a:latin typeface="Poppins"/>
                <a:ea typeface="Poppins"/>
                <a:cs typeface="Poppins"/>
                <a:sym typeface="Poppins"/>
              </a:rPr>
              <a:t>However, it's important to reiterate that the app is for informational purposes only. A professional diagnosis from a dentist or healthcare provider remains essential.</a:t>
            </a:r>
            <a:endParaRPr sz="2300">
              <a:solidFill>
                <a:schemeClr val="lt1"/>
              </a:solidFill>
              <a:latin typeface="Poppins"/>
              <a:ea typeface="Poppins"/>
              <a:cs typeface="Poppins"/>
              <a:sym typeface="Poppins"/>
            </a:endParaRPr>
          </a:p>
          <a:p>
            <a:pPr indent="0" lvl="0" marL="0" rtl="0" algn="just">
              <a:lnSpc>
                <a:spcPct val="115000"/>
              </a:lnSpc>
              <a:spcBef>
                <a:spcPts val="1200"/>
              </a:spcBef>
              <a:spcAft>
                <a:spcPts val="1200"/>
              </a:spcAft>
              <a:buClr>
                <a:schemeClr val="dk1"/>
              </a:buClr>
              <a:buSzPts val="1100"/>
              <a:buFont typeface="Arial"/>
              <a:buNone/>
            </a:pPr>
            <a:r>
              <a:rPr lang="en-US" sz="2300">
                <a:solidFill>
                  <a:schemeClr val="lt1"/>
                </a:solidFill>
                <a:latin typeface="Poppins"/>
                <a:ea typeface="Poppins"/>
                <a:cs typeface="Poppins"/>
                <a:sym typeface="Poppins"/>
              </a:rPr>
              <a:t>We envision this app to be used be used for early detection suspicious lesions which can lead to timely professional diagnosis and treatment</a:t>
            </a:r>
            <a:r>
              <a:rPr lang="en-US" sz="2300">
                <a:solidFill>
                  <a:schemeClr val="lt1"/>
                </a:solidFill>
                <a:latin typeface="Poppins"/>
                <a:ea typeface="Poppins"/>
                <a:cs typeface="Poppins"/>
                <a:sym typeface="Poppins"/>
              </a:rPr>
              <a:t>.</a:t>
            </a:r>
            <a:r>
              <a:rPr lang="en-US" sz="2300">
                <a:solidFill>
                  <a:schemeClr val="lt1"/>
                </a:solidFill>
                <a:latin typeface="Poppins"/>
                <a:ea typeface="Poppins"/>
                <a:cs typeface="Poppins"/>
                <a:sym typeface="Poppins"/>
              </a:rPr>
              <a:t> By combining user awareness with AI-powered analysis, our project has the potential to contribute significantly to early detection and improved oral health outcomes.</a:t>
            </a:r>
            <a:endParaRPr sz="2300">
              <a:solidFill>
                <a:schemeClr val="lt1"/>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405" name="Shape 405"/>
        <p:cNvGrpSpPr/>
        <p:nvPr/>
      </p:nvGrpSpPr>
      <p:grpSpPr>
        <a:xfrm>
          <a:off x="0" y="0"/>
          <a:ext cx="0" cy="0"/>
          <a:chOff x="0" y="0"/>
          <a:chExt cx="0" cy="0"/>
        </a:xfrm>
      </p:grpSpPr>
      <p:sp>
        <p:nvSpPr>
          <p:cNvPr id="406" name="Google Shape;406;p13"/>
          <p:cNvSpPr txBox="1"/>
          <p:nvPr/>
        </p:nvSpPr>
        <p:spPr>
          <a:xfrm>
            <a:off x="4734204" y="4257751"/>
            <a:ext cx="8819700" cy="15954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10364" u="none" cap="none" strike="noStrike">
                <a:solidFill>
                  <a:srgbClr val="051D40"/>
                </a:solidFill>
                <a:latin typeface="Open Sans ExtraBold"/>
                <a:ea typeface="Open Sans ExtraBold"/>
                <a:cs typeface="Open Sans ExtraBold"/>
                <a:sym typeface="Open Sans ExtraBold"/>
              </a:rPr>
              <a:t>THANK YOU!</a:t>
            </a:r>
            <a:endParaRPr/>
          </a:p>
        </p:txBody>
      </p:sp>
      <p:grpSp>
        <p:nvGrpSpPr>
          <p:cNvPr id="407" name="Google Shape;407;p13"/>
          <p:cNvGrpSpPr/>
          <p:nvPr/>
        </p:nvGrpSpPr>
        <p:grpSpPr>
          <a:xfrm>
            <a:off x="-143105" y="-144650"/>
            <a:ext cx="18431116" cy="901627"/>
            <a:chOff x="0" y="-38100"/>
            <a:chExt cx="1551036" cy="237464"/>
          </a:xfrm>
        </p:grpSpPr>
        <p:sp>
          <p:nvSpPr>
            <p:cNvPr id="408" name="Google Shape;408;p13"/>
            <p:cNvSpPr/>
            <p:nvPr/>
          </p:nvSpPr>
          <p:spPr>
            <a:xfrm>
              <a:off x="0" y="0"/>
              <a:ext cx="1551036" cy="199364"/>
            </a:xfrm>
            <a:custGeom>
              <a:rect b="b" l="l" r="r" t="t"/>
              <a:pathLst>
                <a:path extrusionOk="0" h="199364" w="1551036">
                  <a:moveTo>
                    <a:pt x="0" y="0"/>
                  </a:moveTo>
                  <a:lnTo>
                    <a:pt x="1551036" y="0"/>
                  </a:lnTo>
                  <a:lnTo>
                    <a:pt x="1551036" y="199364"/>
                  </a:lnTo>
                  <a:lnTo>
                    <a:pt x="0" y="199364"/>
                  </a:lnTo>
                  <a:close/>
                </a:path>
              </a:pathLst>
            </a:custGeom>
            <a:solidFill>
              <a:srgbClr val="145DA0"/>
            </a:solidFill>
            <a:ln>
              <a:noFill/>
            </a:ln>
          </p:spPr>
        </p:sp>
        <p:sp>
          <p:nvSpPr>
            <p:cNvPr id="409" name="Google Shape;409;p13"/>
            <p:cNvSpPr txBox="1"/>
            <p:nvPr/>
          </p:nvSpPr>
          <p:spPr>
            <a:xfrm>
              <a:off x="0" y="-38100"/>
              <a:ext cx="1551036" cy="237464"/>
            </a:xfrm>
            <a:prstGeom prst="rect">
              <a:avLst/>
            </a:prstGeom>
            <a:solidFill>
              <a:srgbClr val="145DA0"/>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0" name="Google Shape;410;p13"/>
          <p:cNvGrpSpPr/>
          <p:nvPr/>
        </p:nvGrpSpPr>
        <p:grpSpPr>
          <a:xfrm>
            <a:off x="-143025" y="9385375"/>
            <a:ext cx="18431116" cy="901627"/>
            <a:chOff x="0" y="-38100"/>
            <a:chExt cx="1551036" cy="237464"/>
          </a:xfrm>
        </p:grpSpPr>
        <p:sp>
          <p:nvSpPr>
            <p:cNvPr id="411" name="Google Shape;411;p13"/>
            <p:cNvSpPr/>
            <p:nvPr/>
          </p:nvSpPr>
          <p:spPr>
            <a:xfrm>
              <a:off x="0" y="0"/>
              <a:ext cx="1551036" cy="199364"/>
            </a:xfrm>
            <a:custGeom>
              <a:rect b="b" l="l" r="r" t="t"/>
              <a:pathLst>
                <a:path extrusionOk="0" h="199364" w="1551036">
                  <a:moveTo>
                    <a:pt x="0" y="0"/>
                  </a:moveTo>
                  <a:lnTo>
                    <a:pt x="1551036" y="0"/>
                  </a:lnTo>
                  <a:lnTo>
                    <a:pt x="1551036" y="199364"/>
                  </a:lnTo>
                  <a:lnTo>
                    <a:pt x="0" y="199364"/>
                  </a:lnTo>
                  <a:close/>
                </a:path>
              </a:pathLst>
            </a:custGeom>
            <a:solidFill>
              <a:srgbClr val="145DA0"/>
            </a:solidFill>
            <a:ln>
              <a:noFill/>
            </a:ln>
          </p:spPr>
        </p:sp>
        <p:sp>
          <p:nvSpPr>
            <p:cNvPr id="412" name="Google Shape;412;p13"/>
            <p:cNvSpPr txBox="1"/>
            <p:nvPr/>
          </p:nvSpPr>
          <p:spPr>
            <a:xfrm>
              <a:off x="0" y="-38100"/>
              <a:ext cx="1551036" cy="237464"/>
            </a:xfrm>
            <a:prstGeom prst="rect">
              <a:avLst/>
            </a:prstGeom>
            <a:solidFill>
              <a:srgbClr val="145DA0"/>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